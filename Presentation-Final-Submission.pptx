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73" r:id="rId3"/>
    <p:sldId id="258" r:id="rId4"/>
    <p:sldId id="259" r:id="rId5"/>
    <p:sldId id="260" r:id="rId6"/>
    <p:sldId id="262" r:id="rId7"/>
    <p:sldId id="274" r:id="rId8"/>
    <p:sldId id="275" r:id="rId9"/>
    <p:sldId id="263" r:id="rId10"/>
    <p:sldId id="264" r:id="rId11"/>
    <p:sldId id="277" r:id="rId12"/>
    <p:sldId id="280" r:id="rId13"/>
    <p:sldId id="282" r:id="rId14"/>
    <p:sldId id="281" r:id="rId15"/>
    <p:sldId id="265" r:id="rId16"/>
    <p:sldId id="283" r:id="rId17"/>
    <p:sldId id="284" r:id="rId18"/>
    <p:sldId id="266" r:id="rId19"/>
    <p:sldId id="267" r:id="rId20"/>
    <p:sldId id="268" r:id="rId21"/>
    <p:sldId id="269" r:id="rId22"/>
    <p:sldId id="270" r:id="rId23"/>
    <p:sldId id="272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516" autoAdjust="0"/>
  </p:normalViewPr>
  <p:slideViewPr>
    <p:cSldViewPr snapToGrid="0">
      <p:cViewPr varScale="1">
        <p:scale>
          <a:sx n="64" d="100"/>
          <a:sy n="64" d="100"/>
        </p:scale>
        <p:origin x="139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742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311356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Gini split measure how the split reduces the chance of </a:t>
            </a:r>
            <a:r>
              <a:rPr lang="en-US" dirty="0" err="1"/>
              <a:t>mislabelling</a:t>
            </a:r>
            <a:r>
              <a:rPr lang="en-US" dirty="0"/>
              <a:t> (randomly assign a label using the node’s class)</a:t>
            </a:r>
          </a:p>
          <a:p>
            <a:r>
              <a:rPr lang="en-US" dirty="0"/>
              <a:t>Entropy split minimizes the weighted entropy of the child nodes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5322C-6681-3CA0-C0A2-84350A578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21EAF8-2FE7-01A9-B583-1D4C905174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71CC23-7388-54BA-8B97-9E5655957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E832E-94EA-1876-BE30-B42EF80F03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434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06DE7-031C-EA9C-BA51-DA9191FFD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4D94B-ADA0-56C1-1FE7-DE6C91CA11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823AF7-DE66-A094-B9B5-DCC135FBA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0E307-4A85-CA55-6332-1FD4A8C468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04054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CC5B0-2EB7-68CB-3B4D-4325C44A9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284D47-9389-F969-D88F-B8F8C83068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525A33-F2D2-069B-518B-EE8F9225F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4D39D-CFB3-D44A-29B6-8A66E89070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2809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79DB2-CA58-1C95-FBAB-68744186A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8629E1-89A5-CE8E-0D3F-2C50CC98BC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828752-794B-E8D1-CF2D-59E0B97042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93DE6-C2C3-E155-1ED8-BB1BF1D70A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0924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DDAE-C8FF-6758-809F-B01B1717E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ADF44E-FAE5-3164-38C8-7F14CF41F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608258-8AC6-0DFC-64CF-C5D69F0BE6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348F9-9711-0EB8-D3E2-01D7EDBF3F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832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4FE9F-6CF2-7E95-BC31-C45BFFA4A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DC19DC-A1DE-B9CB-114A-10ECA5C7C0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9350B0-FB81-CCA7-7A8F-AEA60066F5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7B74B-9004-CD38-72CB-5933225D6D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4795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B545D-7386-A39B-C681-AB99164C7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036CBB-CACD-748F-1099-3FD05CC975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082025-A10E-D2D1-CA33-975BE947B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DBAA4-1725-5616-4644-60CE260211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28018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8788A-3B71-9ECF-4D0E-6B464FEFC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05F8F6-2F11-64DC-B672-4E4E376668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6041F3-BBF8-397D-027F-6034E04B55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454D9-9870-7A87-7457-2088921E54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7446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3F005-DF1F-D006-AABC-C078CAD8F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DB7A7E-D4C7-C89D-FB75-F9F4A68753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54121A-6B5E-6F7F-578F-005BB1C2C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639990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33092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6049"/>
                </a:solidFill>
                <a:latin typeface="Archivo" pitchFamily="34" charset="0"/>
                <a:ea typeface="Archivo" pitchFamily="34" charset="-122"/>
                <a:cs typeface="Archivo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082750"/>
            <a:ext cx="10566400" cy="396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6049"/>
                </a:solidFill>
                <a:latin typeface="Archivo" pitchFamily="34" charset="0"/>
                <a:ea typeface="Archivo" pitchFamily="34" charset="-122"/>
                <a:cs typeface="Archivo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33092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6049"/>
                </a:solidFill>
                <a:latin typeface="Archivo" pitchFamily="34" charset="0"/>
                <a:ea typeface="Archivo" pitchFamily="34" charset="-122"/>
                <a:cs typeface="Archivo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082750"/>
            <a:ext cx="10566400" cy="396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6049"/>
                </a:solidFill>
                <a:latin typeface="Archivo" pitchFamily="34" charset="0"/>
                <a:ea typeface="Archivo" pitchFamily="34" charset="-122"/>
                <a:cs typeface="Archivo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tree.DecisionTreeClassifier.html" TargetMode="External"/><Relationship Id="rId7" Type="http://schemas.openxmlformats.org/officeDocument/2006/relationships/hyperlink" Target="https://doi.org/10.1201/9781315139470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24432/C52P4X" TargetMode="External"/><Relationship Id="rId5" Type="http://schemas.openxmlformats.org/officeDocument/2006/relationships/hyperlink" Target="https://doi.org/10.24432/C5DW2B" TargetMode="External"/><Relationship Id="rId4" Type="http://schemas.openxmlformats.org/officeDocument/2006/relationships/hyperlink" Target="https://www.mathworks.com/help/stats/classificationtre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6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rgbClr val="0C3F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940800" y="812800"/>
            <a:ext cx="2438400" cy="50800"/>
          </a:xfrm>
          <a:prstGeom prst="rect">
            <a:avLst/>
          </a:prstGeom>
          <a:solidFill>
            <a:srgbClr val="00A85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University of Limerick logo"/>
          <p:cNvPicPr>
            <a:picLocks noChangeAspect="1"/>
          </p:cNvPicPr>
          <p:nvPr/>
        </p:nvPicPr>
        <p:blipFill>
          <a:blip r:embed="rId3"/>
          <a:srcRect t="-29" b="-29"/>
          <a:stretch/>
        </p:blipFill>
        <p:spPr>
          <a:xfrm>
            <a:off x="812800" y="254000"/>
            <a:ext cx="2667000" cy="121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1712198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960"/>
              </a:lnSpc>
            </a:pPr>
            <a:r>
              <a:rPr lang="en-US" sz="1600" b="1" kern="0" spc="200">
                <a:solidFill>
                  <a:srgbClr val="8FD9B0"/>
                </a:solidFill>
                <a:ea typeface="Archivo"/>
                <a:cs typeface="Archivo" pitchFamily="34" charset="-120"/>
              </a:rPr>
              <a:t>CS4437 EXPLAINABLE AI · GROUP 9 SUBMISSION 09/10/2026</a:t>
            </a:r>
            <a:endParaRPr lang="en-US" sz="1600"/>
          </a:p>
        </p:txBody>
      </p:sp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812800" y="2372640"/>
            <a:ext cx="7230343" cy="3134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896"/>
              </a:lnSpc>
            </a:pPr>
            <a:r>
              <a:rPr lang="en-US" sz="4800" b="1" i="0" kern="0" spc="-50">
                <a:solidFill>
                  <a:srgbClr val="FFFFFF"/>
                </a:solidFill>
                <a:latin typeface="+mn-lt"/>
                <a:ea typeface="Archivo"/>
              </a:rPr>
              <a:t>Gini </a:t>
            </a:r>
            <a:r>
              <a:rPr lang="en-US" sz="4800" b="1" kern="0" spc="-50">
                <a:solidFill>
                  <a:srgbClr val="FFFFFF"/>
                </a:solidFill>
                <a:latin typeface="+mn-lt"/>
                <a:ea typeface="Archivo"/>
              </a:rPr>
              <a:t>split </a:t>
            </a:r>
            <a:r>
              <a:rPr lang="en-US" sz="4800" b="1" i="0" kern="0" spc="-50">
                <a:solidFill>
                  <a:srgbClr val="FFFFFF"/>
                </a:solidFill>
                <a:latin typeface="+mn-lt"/>
              </a:rPr>
              <a:t>vs Entropy: does the splitting criterion change </a:t>
            </a:r>
            <a:r>
              <a:rPr lang="en-US" sz="4800" b="1" kern="0" spc="-50">
                <a:solidFill>
                  <a:srgbClr val="FFFFFF"/>
                </a:solidFill>
                <a:latin typeface="+mn-lt"/>
              </a:rPr>
              <a:t>interpretability of</a:t>
            </a:r>
            <a:r>
              <a:rPr lang="en-US" sz="4800" b="1" i="0" kern="0" spc="-50">
                <a:solidFill>
                  <a:srgbClr val="FFFFFF"/>
                </a:solidFill>
                <a:latin typeface="+mn-lt"/>
              </a:rPr>
              <a:t> decision </a:t>
            </a:r>
            <a:r>
              <a:rPr lang="en-US" sz="4800" b="1" kern="0" spc="-50">
                <a:solidFill>
                  <a:srgbClr val="FFFFFF"/>
                </a:solidFill>
                <a:latin typeface="+mn-lt"/>
              </a:rPr>
              <a:t>trees</a:t>
            </a:r>
            <a:r>
              <a:rPr lang="en-US" sz="4800" b="1" i="0" kern="0" spc="-50">
                <a:solidFill>
                  <a:srgbClr val="FFFFFF"/>
                </a:solidFill>
                <a:latin typeface="+mn-lt"/>
              </a:rPr>
              <a:t>?</a:t>
            </a:r>
            <a:endParaRPr lang="en-US" sz="4800">
              <a:latin typeface="+mn-lt"/>
            </a:endParaRPr>
          </a:p>
        </p:txBody>
      </p:sp>
      <p:sp>
        <p:nvSpPr>
          <p:cNvPr id="7" name="Text 4"/>
          <p:cNvSpPr/>
          <p:nvPr/>
        </p:nvSpPr>
        <p:spPr>
          <a:xfrm>
            <a:off x="812800" y="5857332"/>
            <a:ext cx="10882243" cy="398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240"/>
              </a:lnSpc>
            </a:pPr>
            <a:r>
              <a:rPr lang="en-US" sz="1600">
                <a:solidFill>
                  <a:srgbClr val="D6EBE0"/>
                </a:solidFill>
                <a:latin typeface="Archivo"/>
                <a:ea typeface="Archivo"/>
                <a:cs typeface="Archivo" pitchFamily="34" charset="-120"/>
              </a:rPr>
              <a:t>Aaron McGuinness · Skye Fitzpatrick · Mark </a:t>
            </a:r>
            <a:r>
              <a:rPr lang="en-US" sz="1600">
                <a:solidFill>
                  <a:srgbClr val="D6EBE0"/>
                </a:solidFill>
                <a:ea typeface="Archivo"/>
                <a:cs typeface="Archivo" pitchFamily="34" charset="-120"/>
              </a:rPr>
              <a:t>James</a:t>
            </a:r>
            <a:r>
              <a:rPr lang="en-US" sz="1600">
                <a:solidFill>
                  <a:srgbClr val="D6EBE0"/>
                </a:solidFill>
                <a:latin typeface="Archivo"/>
                <a:ea typeface="Archivo"/>
                <a:cs typeface="Archivo" pitchFamily="34" charset="-120"/>
              </a:rPr>
              <a:t> Drohan · Mikey Fennelly</a:t>
            </a:r>
            <a:endParaRPr lang="en-US" sz="1600">
              <a:latin typeface="Archivo"/>
              <a:ea typeface="Archivo"/>
            </a:endParaRPr>
          </a:p>
        </p:txBody>
      </p:sp>
      <p:pic>
        <p:nvPicPr>
          <p:cNvPr id="8" name="Picture 7" descr="Study | Software Engineering.ie">
            <a:extLst>
              <a:ext uri="{FF2B5EF4-FFF2-40B4-BE49-F238E27FC236}">
                <a16:creationId xmlns:a16="http://schemas.microsoft.com/office/drawing/2014/main" id="{EAEFEA81-3723-C5BE-79D9-02DDD50E6C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316" t="17840" r="17337" b="21596"/>
          <a:stretch>
            <a:fillRect/>
          </a:stretch>
        </p:blipFill>
        <p:spPr>
          <a:xfrm>
            <a:off x="3690799" y="253132"/>
            <a:ext cx="2561522" cy="1309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A4A00-FC58-9469-C47B-102DA70D3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750127"/>
            <a:ext cx="10566400" cy="447030"/>
          </a:xfrm>
        </p:spPr>
        <p:txBody>
          <a:bodyPr/>
          <a:lstStyle/>
          <a:p>
            <a:pPr>
              <a:lnSpc>
                <a:spcPct val="114999"/>
              </a:lnSpc>
            </a:pPr>
            <a:r>
              <a:rPr lang="en-GB" b="1">
                <a:latin typeface="Archivo"/>
                <a:ea typeface="Archivo"/>
              </a:rPr>
              <a:t>Presentation Overview</a:t>
            </a:r>
            <a:endParaRPr lang="en-US" b="1">
              <a:ea typeface="Archivo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229CE7CE-19B7-2295-9465-E167D75CD5B5}"/>
              </a:ext>
            </a:extLst>
          </p:cNvPr>
          <p:cNvSpPr/>
          <p:nvPr/>
        </p:nvSpPr>
        <p:spPr>
          <a:xfrm>
            <a:off x="1882820" y="1886038"/>
            <a:ext cx="6583636" cy="4478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r>
              <a:rPr lang="en-US" b="1" kern="0" spc="150" dirty="0">
                <a:solidFill>
                  <a:srgbClr val="146049"/>
                </a:solidFill>
                <a:ea typeface="+mn-lt"/>
                <a:cs typeface="+mn-lt"/>
              </a:rPr>
              <a:t>INTRODUCTION</a:t>
            </a:r>
            <a:endParaRPr lang="en-US" b="1" dirty="0"/>
          </a:p>
          <a:p>
            <a:endParaRPr lang="en-US" b="1" kern="0" spc="150" dirty="0"/>
          </a:p>
          <a:p>
            <a:r>
              <a:rPr lang="en-US" b="1" kern="0" spc="150" dirty="0"/>
              <a:t>BACKGROUND RESEARCH</a:t>
            </a:r>
          </a:p>
          <a:p>
            <a:endParaRPr lang="en-US" b="1" kern="0" spc="150" dirty="0"/>
          </a:p>
          <a:p>
            <a:r>
              <a:rPr lang="en-US" b="1" kern="0" spc="150" dirty="0"/>
              <a:t>DATASETS CHOSEN</a:t>
            </a:r>
          </a:p>
          <a:p>
            <a:endParaRPr lang="en-US" b="1" kern="0" spc="150" dirty="0"/>
          </a:p>
          <a:p>
            <a:r>
              <a:rPr lang="en-US" b="1" kern="0" spc="150" dirty="0"/>
              <a:t>DATASET FEATURES</a:t>
            </a:r>
          </a:p>
          <a:p>
            <a:endParaRPr lang="en-US" b="1" kern="0" spc="150" dirty="0"/>
          </a:p>
          <a:p>
            <a:r>
              <a:rPr lang="en-US" b="1" kern="0" spc="150" dirty="0"/>
              <a:t>ANALYSIS METHODS FOR INTERPRETABILITY</a:t>
            </a:r>
          </a:p>
          <a:p>
            <a:endParaRPr lang="en-US" b="1" kern="0" spc="150" dirty="0"/>
          </a:p>
          <a:p>
            <a:r>
              <a:rPr lang="en-US" b="1" kern="0" spc="150" dirty="0"/>
              <a:t>RESULTS TO DATE</a:t>
            </a:r>
          </a:p>
          <a:p>
            <a:endParaRPr lang="en-US" b="1" kern="0" spc="150" dirty="0"/>
          </a:p>
          <a:p>
            <a:r>
              <a:rPr lang="en-US" b="1" kern="0" spc="150" dirty="0"/>
              <a:t>CONCLUSION</a:t>
            </a:r>
          </a:p>
          <a:p>
            <a:endParaRPr lang="en-US" b="1" kern="0" spc="150" dirty="0"/>
          </a:p>
          <a:p>
            <a:r>
              <a:rPr lang="en-US" b="1" kern="0" spc="150" dirty="0"/>
              <a:t>QUESTIONS</a:t>
            </a:r>
          </a:p>
          <a:p>
            <a:endParaRPr lang="en-US" b="1" kern="0" spc="150" dirty="0"/>
          </a:p>
          <a:p>
            <a:r>
              <a:rPr lang="en-US" b="1" kern="0" spc="150" dirty="0"/>
              <a:t>REFERENCES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E17781B-2E6C-159B-246D-B44B5054A1FD}"/>
              </a:ext>
            </a:extLst>
          </p:cNvPr>
          <p:cNvGrpSpPr/>
          <p:nvPr/>
        </p:nvGrpSpPr>
        <p:grpSpPr>
          <a:xfrm>
            <a:off x="1274294" y="1999497"/>
            <a:ext cx="406401" cy="3935926"/>
            <a:chOff x="1274294" y="1999497"/>
            <a:chExt cx="406401" cy="3935926"/>
          </a:xfrm>
        </p:grpSpPr>
        <p:sp>
          <p:nvSpPr>
            <p:cNvPr id="5" name="Shape 0">
              <a:extLst>
                <a:ext uri="{FF2B5EF4-FFF2-40B4-BE49-F238E27FC236}">
                  <a16:creationId xmlns:a16="http://schemas.microsoft.com/office/drawing/2014/main" id="{46DF1D01-72EC-A898-FF18-AB4D3043EF15}"/>
                </a:ext>
              </a:extLst>
            </p:cNvPr>
            <p:cNvSpPr/>
            <p:nvPr/>
          </p:nvSpPr>
          <p:spPr>
            <a:xfrm>
              <a:off x="1274295" y="3931328"/>
              <a:ext cx="406400" cy="50800"/>
            </a:xfrm>
            <a:prstGeom prst="rect">
              <a:avLst/>
            </a:prstGeom>
            <a:solidFill>
              <a:srgbClr val="00A85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0">
              <a:extLst>
                <a:ext uri="{FF2B5EF4-FFF2-40B4-BE49-F238E27FC236}">
                  <a16:creationId xmlns:a16="http://schemas.microsoft.com/office/drawing/2014/main" id="{F67775C9-A91F-D593-4F2F-9CC997054D49}"/>
                </a:ext>
              </a:extLst>
            </p:cNvPr>
            <p:cNvSpPr/>
            <p:nvPr/>
          </p:nvSpPr>
          <p:spPr>
            <a:xfrm>
              <a:off x="1274295" y="4414285"/>
              <a:ext cx="406400" cy="50800"/>
            </a:xfrm>
            <a:prstGeom prst="rect">
              <a:avLst/>
            </a:prstGeom>
            <a:solidFill>
              <a:srgbClr val="00A85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0">
              <a:extLst>
                <a:ext uri="{FF2B5EF4-FFF2-40B4-BE49-F238E27FC236}">
                  <a16:creationId xmlns:a16="http://schemas.microsoft.com/office/drawing/2014/main" id="{0BAF68DA-6FC5-30DA-E4E2-511D50913F78}"/>
                </a:ext>
              </a:extLst>
            </p:cNvPr>
            <p:cNvSpPr/>
            <p:nvPr/>
          </p:nvSpPr>
          <p:spPr>
            <a:xfrm>
              <a:off x="1274295" y="2471721"/>
              <a:ext cx="406400" cy="50800"/>
            </a:xfrm>
            <a:prstGeom prst="rect">
              <a:avLst/>
            </a:prstGeom>
            <a:solidFill>
              <a:srgbClr val="00A85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Shape 0">
              <a:extLst>
                <a:ext uri="{FF2B5EF4-FFF2-40B4-BE49-F238E27FC236}">
                  <a16:creationId xmlns:a16="http://schemas.microsoft.com/office/drawing/2014/main" id="{34E0F956-156B-E2EE-C821-4BC145B3AD75}"/>
                </a:ext>
              </a:extLst>
            </p:cNvPr>
            <p:cNvSpPr/>
            <p:nvPr/>
          </p:nvSpPr>
          <p:spPr>
            <a:xfrm>
              <a:off x="1274295" y="2943946"/>
              <a:ext cx="406400" cy="50800"/>
            </a:xfrm>
            <a:prstGeom prst="rect">
              <a:avLst/>
            </a:prstGeom>
            <a:solidFill>
              <a:srgbClr val="00A85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0">
              <a:extLst>
                <a:ext uri="{FF2B5EF4-FFF2-40B4-BE49-F238E27FC236}">
                  <a16:creationId xmlns:a16="http://schemas.microsoft.com/office/drawing/2014/main" id="{E4FDB012-8BE0-9C18-675B-305A0CCCD2B8}"/>
                </a:ext>
              </a:extLst>
            </p:cNvPr>
            <p:cNvSpPr/>
            <p:nvPr/>
          </p:nvSpPr>
          <p:spPr>
            <a:xfrm>
              <a:off x="1274294" y="4897242"/>
              <a:ext cx="406400" cy="50800"/>
            </a:xfrm>
            <a:prstGeom prst="rect">
              <a:avLst/>
            </a:prstGeom>
            <a:solidFill>
              <a:srgbClr val="00A85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0">
              <a:extLst>
                <a:ext uri="{FF2B5EF4-FFF2-40B4-BE49-F238E27FC236}">
                  <a16:creationId xmlns:a16="http://schemas.microsoft.com/office/drawing/2014/main" id="{93651CDD-0557-31D2-299D-ACCC927E8253}"/>
                </a:ext>
              </a:extLst>
            </p:cNvPr>
            <p:cNvSpPr/>
            <p:nvPr/>
          </p:nvSpPr>
          <p:spPr>
            <a:xfrm>
              <a:off x="1274295" y="1999497"/>
              <a:ext cx="406400" cy="50800"/>
            </a:xfrm>
            <a:prstGeom prst="rect">
              <a:avLst/>
            </a:prstGeom>
            <a:solidFill>
              <a:srgbClr val="00A85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0">
              <a:extLst>
                <a:ext uri="{FF2B5EF4-FFF2-40B4-BE49-F238E27FC236}">
                  <a16:creationId xmlns:a16="http://schemas.microsoft.com/office/drawing/2014/main" id="{D32BB348-9425-A718-49EF-2FBBDAE078CD}"/>
                </a:ext>
              </a:extLst>
            </p:cNvPr>
            <p:cNvSpPr/>
            <p:nvPr/>
          </p:nvSpPr>
          <p:spPr>
            <a:xfrm>
              <a:off x="1274295" y="3426904"/>
              <a:ext cx="406400" cy="50800"/>
            </a:xfrm>
            <a:prstGeom prst="rect">
              <a:avLst/>
            </a:prstGeom>
            <a:solidFill>
              <a:srgbClr val="00A85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0">
              <a:extLst>
                <a:ext uri="{FF2B5EF4-FFF2-40B4-BE49-F238E27FC236}">
                  <a16:creationId xmlns:a16="http://schemas.microsoft.com/office/drawing/2014/main" id="{F3D50E4F-FCD3-BF0A-4BE9-A3F51543D9B2}"/>
                </a:ext>
              </a:extLst>
            </p:cNvPr>
            <p:cNvSpPr/>
            <p:nvPr/>
          </p:nvSpPr>
          <p:spPr>
            <a:xfrm>
              <a:off x="1274294" y="5380199"/>
              <a:ext cx="406400" cy="50800"/>
            </a:xfrm>
            <a:prstGeom prst="rect">
              <a:avLst/>
            </a:prstGeom>
            <a:solidFill>
              <a:srgbClr val="00A85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0">
              <a:extLst>
                <a:ext uri="{FF2B5EF4-FFF2-40B4-BE49-F238E27FC236}">
                  <a16:creationId xmlns:a16="http://schemas.microsoft.com/office/drawing/2014/main" id="{DFD88730-BD45-7F1A-ECF9-C1C4A7D880D3}"/>
                </a:ext>
              </a:extLst>
            </p:cNvPr>
            <p:cNvSpPr/>
            <p:nvPr/>
          </p:nvSpPr>
          <p:spPr>
            <a:xfrm>
              <a:off x="1274294" y="5884623"/>
              <a:ext cx="406400" cy="50800"/>
            </a:xfrm>
            <a:prstGeom prst="rect">
              <a:avLst/>
            </a:prstGeom>
            <a:solidFill>
              <a:srgbClr val="00A850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363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94060"/>
            <a:ext cx="406400" cy="50800"/>
          </a:xfrm>
          <a:prstGeom prst="rect">
            <a:avLst/>
          </a:prstGeom>
          <a:solidFill>
            <a:srgbClr val="00A8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81246" y="815340"/>
            <a:ext cx="3520261" cy="25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b="1" kern="0" spc="150"/>
              <a:t>INTRODUCTION</a:t>
            </a:r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3309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3520"/>
              </a:lnSpc>
            </a:pPr>
            <a:r>
              <a:rPr lang="en-US" b="1" i="0">
                <a:solidFill>
                  <a:srgbClr val="146049"/>
                </a:solidFill>
                <a:latin typeface="+mn-lt"/>
                <a:ea typeface="Archivo"/>
              </a:rPr>
              <a:t>Two ways for a </a:t>
            </a:r>
            <a:r>
              <a:rPr lang="en-US" b="1">
                <a:latin typeface="+mn-lt"/>
                <a:ea typeface="Archivo"/>
              </a:rPr>
              <a:t>decision tree</a:t>
            </a:r>
            <a:r>
              <a:rPr lang="en-US" b="1" i="0">
                <a:solidFill>
                  <a:srgbClr val="146049"/>
                </a:solidFill>
                <a:latin typeface="+mn-lt"/>
                <a:ea typeface="Archivo"/>
              </a:rPr>
              <a:t> to choose its next split</a:t>
            </a:r>
            <a:endParaRPr lang="en-US">
              <a:latin typeface="+mn-lt"/>
              <a:ea typeface="Archivo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1313" y="2731479"/>
            <a:ext cx="5156200" cy="2305299"/>
          </a:xfrm>
          <a:prstGeom prst="rect">
            <a:avLst/>
          </a:prstGeom>
          <a:solidFill>
            <a:srgbClr val="F4F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1313" y="2736285"/>
            <a:ext cx="5156200" cy="0"/>
          </a:xfrm>
          <a:prstGeom prst="line">
            <a:avLst/>
          </a:prstGeom>
          <a:noFill/>
          <a:ln w="50800">
            <a:solidFill>
              <a:srgbClr val="00A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66113" y="3066485"/>
            <a:ext cx="468299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3200" b="1">
                <a:solidFill>
                  <a:srgbClr val="146049"/>
                </a:solidFill>
                <a:ea typeface="Archivo"/>
                <a:cs typeface="Archivo" pitchFamily="34" charset="-120"/>
              </a:rPr>
              <a:t>Gini</a:t>
            </a:r>
            <a:endParaRPr lang="en-US" sz="3200">
              <a:ea typeface="Archivo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04329" y="3827112"/>
            <a:ext cx="4682998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360"/>
              </a:lnSpc>
            </a:pPr>
            <a:r>
              <a:rPr lang="en-US" sz="3200" b="1">
                <a:solidFill>
                  <a:srgbClr val="17291F"/>
                </a:solidFill>
                <a:ea typeface="+mn-lt"/>
                <a:cs typeface="+mn-lt"/>
              </a:rPr>
              <a:t>1 − Σ p(k)² </a:t>
            </a:r>
            <a:r>
              <a:rPr lang="en-US" sz="1600">
                <a:solidFill>
                  <a:srgbClr val="17291F"/>
                </a:solidFill>
                <a:ea typeface="+mn-lt"/>
                <a:cs typeface="+mn-lt"/>
              </a:rPr>
              <a:t>[</a:t>
            </a:r>
            <a:r>
              <a:rPr lang="en-US" sz="1600">
                <a:solidFill>
                  <a:srgbClr val="17291F"/>
                </a:solidFill>
                <a:ea typeface="Archivo"/>
                <a:cs typeface="Archivo" pitchFamily="34" charset="-120"/>
              </a:rPr>
              <a:t>2]</a:t>
            </a:r>
            <a:endParaRPr lang="en-US" sz="1600">
              <a:ea typeface="Archivo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04329" y="4565468"/>
            <a:ext cx="468299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960"/>
              </a:lnSpc>
            </a:pPr>
            <a:r>
              <a:rPr lang="en-US">
                <a:solidFill>
                  <a:srgbClr val="52665D"/>
                </a:solidFill>
                <a:ea typeface="Archivo"/>
                <a:cs typeface="Archivo" pitchFamily="34" charset="-120"/>
              </a:rPr>
              <a:t>Chance of </a:t>
            </a:r>
            <a:r>
              <a:rPr lang="en-US" err="1">
                <a:solidFill>
                  <a:srgbClr val="52665D"/>
                </a:solidFill>
                <a:ea typeface="Archivo"/>
                <a:cs typeface="Archivo" pitchFamily="34" charset="-120"/>
              </a:rPr>
              <a:t>mislabelling</a:t>
            </a:r>
            <a:r>
              <a:rPr lang="en-US">
                <a:solidFill>
                  <a:srgbClr val="52665D"/>
                </a:solidFill>
                <a:ea typeface="Archivo"/>
                <a:cs typeface="Archivo" pitchFamily="34" charset="-120"/>
              </a:rPr>
              <a:t> · scikit-learn default [1]</a:t>
            </a:r>
            <a:endParaRPr lang="en-US">
              <a:ea typeface="Archiv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192108" y="2721182"/>
            <a:ext cx="5135606" cy="2315596"/>
          </a:xfrm>
          <a:prstGeom prst="rect">
            <a:avLst/>
          </a:prstGeom>
          <a:solidFill>
            <a:srgbClr val="F4F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71513" y="2736285"/>
            <a:ext cx="5156200" cy="0"/>
          </a:xfrm>
          <a:prstGeom prst="line">
            <a:avLst/>
          </a:prstGeom>
          <a:noFill/>
          <a:ln w="50800">
            <a:solidFill>
              <a:srgbClr val="146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76313" y="3066485"/>
            <a:ext cx="468299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3200" b="1">
                <a:solidFill>
                  <a:srgbClr val="146049"/>
                </a:solidFill>
                <a:ea typeface="Archivo"/>
                <a:cs typeface="Archivo" pitchFamily="34" charset="-120"/>
              </a:rPr>
              <a:t>Entropy</a:t>
            </a:r>
            <a:endParaRPr lang="en-US" sz="3200">
              <a:ea typeface="Archivo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76313" y="3814128"/>
            <a:ext cx="4682998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360"/>
              </a:lnSpc>
            </a:pPr>
            <a:r>
              <a:rPr lang="en-US" sz="3200" b="1">
                <a:solidFill>
                  <a:srgbClr val="17291F"/>
                </a:solidFill>
                <a:ea typeface="Archivo"/>
                <a:cs typeface="Archivo" pitchFamily="34" charset="-120"/>
              </a:rPr>
              <a:t>− Σ p(k) log₂ p(k) </a:t>
            </a:r>
            <a:r>
              <a:rPr lang="en-US" sz="1600">
                <a:solidFill>
                  <a:srgbClr val="17291F"/>
                </a:solidFill>
                <a:ea typeface="+mn-lt"/>
                <a:cs typeface="+mn-lt"/>
              </a:rPr>
              <a:t>[2]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6414529" y="4565468"/>
            <a:ext cx="468299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>
                <a:solidFill>
                  <a:srgbClr val="52665D"/>
                </a:solidFill>
                <a:ea typeface="Archivo"/>
                <a:cs typeface="Archivo" pitchFamily="34" charset="-120"/>
              </a:rPr>
              <a:t>Shannon uncertainty · information gain</a:t>
            </a:r>
            <a:endParaRPr lang="en-US">
              <a:ea typeface="Archiv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6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00A8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12800" y="2040836"/>
            <a:ext cx="406400" cy="50800"/>
          </a:xfrm>
          <a:prstGeom prst="rect">
            <a:avLst/>
          </a:prstGeom>
          <a:solidFill>
            <a:srgbClr val="00A8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15308" y="1980170"/>
            <a:ext cx="2805355" cy="176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b="1" kern="0" spc="150">
                <a:solidFill>
                  <a:srgbClr val="8FD9B0"/>
                </a:solidFill>
                <a:ea typeface="Archivo"/>
                <a:cs typeface="Archivo" pitchFamily="34" charset="-120"/>
              </a:rPr>
              <a:t>RESEARCH QUESTION</a:t>
            </a:r>
            <a:endParaRPr lang="en-US">
              <a:ea typeface="Archivo"/>
            </a:endParaRPr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812800" y="2715220"/>
            <a:ext cx="102031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4400"/>
              </a:lnSpc>
            </a:pPr>
            <a:r>
              <a:rPr lang="en-US" sz="4400" b="1" i="0">
                <a:solidFill>
                  <a:srgbClr val="FFFFFF"/>
                </a:solidFill>
                <a:latin typeface="+mn-lt"/>
                <a:ea typeface="Archivo"/>
              </a:rPr>
              <a:t>Does </a:t>
            </a:r>
            <a:r>
              <a:rPr lang="en-US" sz="4400" b="1">
                <a:solidFill>
                  <a:srgbClr val="FFFFFF"/>
                </a:solidFill>
                <a:latin typeface="+mn-lt"/>
                <a:ea typeface="Archivo"/>
              </a:rPr>
              <a:t>the choice of either Gini</a:t>
            </a:r>
            <a:r>
              <a:rPr lang="en-US" sz="4400" b="1" i="0">
                <a:solidFill>
                  <a:srgbClr val="FFFFFF"/>
                </a:solidFill>
                <a:latin typeface="+mn-lt"/>
                <a:ea typeface="Archivo"/>
              </a:rPr>
              <a:t> </a:t>
            </a:r>
            <a:r>
              <a:rPr lang="en-US" sz="4400" b="1">
                <a:solidFill>
                  <a:srgbClr val="FFFFFF"/>
                </a:solidFill>
                <a:latin typeface="+mn-lt"/>
                <a:ea typeface="Archivo"/>
              </a:rPr>
              <a:t>split or </a:t>
            </a:r>
            <a:r>
              <a:rPr lang="en-US" sz="4400" b="1" i="0">
                <a:solidFill>
                  <a:srgbClr val="FFFFFF"/>
                </a:solidFill>
                <a:latin typeface="+mn-lt"/>
                <a:ea typeface="Archivo"/>
              </a:rPr>
              <a:t>entropy </a:t>
            </a:r>
            <a:r>
              <a:rPr lang="en-US" sz="4400" b="1">
                <a:solidFill>
                  <a:srgbClr val="FFFFFF"/>
                </a:solidFill>
                <a:latin typeface="+mn-lt"/>
                <a:ea typeface="Archivo"/>
              </a:rPr>
              <a:t>split </a:t>
            </a:r>
            <a:r>
              <a:rPr lang="en-US" sz="4400" b="1" i="0">
                <a:solidFill>
                  <a:srgbClr val="FFFFFF"/>
                </a:solidFill>
                <a:latin typeface="+mn-lt"/>
                <a:ea typeface="Archivo"/>
              </a:rPr>
              <a:t>change </a:t>
            </a:r>
            <a:r>
              <a:rPr lang="en-US" sz="4400" b="1">
                <a:solidFill>
                  <a:srgbClr val="FFFFFF"/>
                </a:solidFill>
                <a:latin typeface="+mn-lt"/>
                <a:ea typeface="Archivo"/>
              </a:rPr>
              <a:t>the interpretability of </a:t>
            </a:r>
            <a:r>
              <a:rPr lang="en-US" sz="4400" b="1" i="0">
                <a:solidFill>
                  <a:srgbClr val="FFFFFF"/>
                </a:solidFill>
                <a:latin typeface="+mn-lt"/>
                <a:ea typeface="Archivo"/>
              </a:rPr>
              <a:t>a decision tree is?</a:t>
            </a:r>
            <a:endParaRPr lang="en-US" sz="4400">
              <a:latin typeface="+mn-lt"/>
              <a:ea typeface="Archiv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3309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520"/>
              </a:lnSpc>
            </a:pPr>
            <a:r>
              <a:rPr lang="en-US" b="1" dirty="0">
                <a:latin typeface="+mn-lt"/>
              </a:rPr>
              <a:t>Expected possible outcomes</a:t>
            </a:r>
          </a:p>
        </p:txBody>
      </p:sp>
      <p:sp>
        <p:nvSpPr>
          <p:cNvPr id="5" name="Shape 3"/>
          <p:cNvSpPr/>
          <p:nvPr/>
        </p:nvSpPr>
        <p:spPr>
          <a:xfrm>
            <a:off x="815975" y="2394844"/>
            <a:ext cx="5175250" cy="941040"/>
          </a:xfrm>
          <a:prstGeom prst="rect">
            <a:avLst/>
          </a:prstGeom>
          <a:solidFill>
            <a:srgbClr val="F4F7F5"/>
          </a:solidFill>
          <a:ln w="6350">
            <a:solidFill>
              <a:srgbClr val="D3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3150" y="2652019"/>
            <a:ext cx="516434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>
                <a:solidFill>
                  <a:srgbClr val="146049"/>
                </a:solidFill>
                <a:ea typeface="Archivo" pitchFamily="34" charset="-122"/>
                <a:cs typeface="Archivo" pitchFamily="34" charset="-120"/>
              </a:rPr>
              <a:t>H0</a:t>
            </a:r>
            <a:endParaRPr lang="en-US" sz="2800"/>
          </a:p>
        </p:txBody>
      </p:sp>
      <p:sp>
        <p:nvSpPr>
          <p:cNvPr id="7" name="Text 5"/>
          <p:cNvSpPr/>
          <p:nvPr/>
        </p:nvSpPr>
        <p:spPr>
          <a:xfrm>
            <a:off x="1706711" y="2728219"/>
            <a:ext cx="2524739" cy="351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2000">
                <a:solidFill>
                  <a:srgbClr val="17291F"/>
                </a:solidFill>
                <a:ea typeface="Archivo" pitchFamily="34" charset="-122"/>
                <a:cs typeface="Archivo" pitchFamily="34" charset="-120"/>
              </a:rPr>
              <a:t>No real difference</a:t>
            </a:r>
            <a:endParaRPr lang="en-US" sz="2000"/>
          </a:p>
        </p:txBody>
      </p:sp>
      <p:sp>
        <p:nvSpPr>
          <p:cNvPr id="8" name="Shape 6"/>
          <p:cNvSpPr/>
          <p:nvPr/>
        </p:nvSpPr>
        <p:spPr>
          <a:xfrm>
            <a:off x="6200775" y="2394844"/>
            <a:ext cx="5175250" cy="941040"/>
          </a:xfrm>
          <a:prstGeom prst="rect">
            <a:avLst/>
          </a:prstGeom>
          <a:solidFill>
            <a:srgbClr val="F4F7F5"/>
          </a:solidFill>
          <a:ln w="6350">
            <a:solidFill>
              <a:srgbClr val="D3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57950" y="2652019"/>
            <a:ext cx="516612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>
                <a:solidFill>
                  <a:srgbClr val="146049"/>
                </a:solidFill>
                <a:ea typeface="Archivo" pitchFamily="34" charset="-122"/>
                <a:cs typeface="Archivo" pitchFamily="34" charset="-120"/>
              </a:rPr>
              <a:t>H1</a:t>
            </a:r>
            <a:endParaRPr lang="en-US" sz="2800"/>
          </a:p>
        </p:txBody>
      </p:sp>
      <p:sp>
        <p:nvSpPr>
          <p:cNvPr id="10" name="Text 8"/>
          <p:cNvSpPr/>
          <p:nvPr/>
        </p:nvSpPr>
        <p:spPr>
          <a:xfrm>
            <a:off x="7091660" y="2728220"/>
            <a:ext cx="2865613" cy="402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2000">
                <a:solidFill>
                  <a:srgbClr val="17291F"/>
                </a:solidFill>
                <a:ea typeface="Archivo" pitchFamily="34" charset="-122"/>
                <a:cs typeface="Archivo" pitchFamily="34" charset="-120"/>
              </a:rPr>
              <a:t>Gini: simpler, less stable</a:t>
            </a:r>
            <a:endParaRPr lang="en-US" sz="2000"/>
          </a:p>
        </p:txBody>
      </p:sp>
      <p:sp>
        <p:nvSpPr>
          <p:cNvPr id="11" name="Shape 9"/>
          <p:cNvSpPr/>
          <p:nvPr/>
        </p:nvSpPr>
        <p:spPr>
          <a:xfrm>
            <a:off x="815975" y="3545435"/>
            <a:ext cx="5175250" cy="941040"/>
          </a:xfrm>
          <a:prstGeom prst="rect">
            <a:avLst/>
          </a:prstGeom>
          <a:solidFill>
            <a:srgbClr val="F4F7F5"/>
          </a:solidFill>
          <a:ln w="6350">
            <a:solidFill>
              <a:srgbClr val="D3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73150" y="3802610"/>
            <a:ext cx="516612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>
                <a:solidFill>
                  <a:srgbClr val="146049"/>
                </a:solidFill>
                <a:ea typeface="Archivo" pitchFamily="34" charset="-122"/>
                <a:cs typeface="Archivo" pitchFamily="34" charset="-120"/>
              </a:rPr>
              <a:t>H2</a:t>
            </a:r>
            <a:endParaRPr lang="en-US" sz="2800"/>
          </a:p>
        </p:txBody>
      </p:sp>
      <p:sp>
        <p:nvSpPr>
          <p:cNvPr id="13" name="Text 11"/>
          <p:cNvSpPr/>
          <p:nvPr/>
        </p:nvSpPr>
        <p:spPr>
          <a:xfrm>
            <a:off x="1706860" y="3878811"/>
            <a:ext cx="3364429" cy="423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2000">
                <a:solidFill>
                  <a:srgbClr val="17291F"/>
                </a:solidFill>
                <a:ea typeface="Archivo" pitchFamily="34" charset="-122"/>
                <a:cs typeface="Archivo" pitchFamily="34" charset="-120"/>
              </a:rPr>
              <a:t>Entropy: more stable, deeper</a:t>
            </a:r>
            <a:endParaRPr lang="en-US" sz="2000"/>
          </a:p>
        </p:txBody>
      </p:sp>
      <p:sp>
        <p:nvSpPr>
          <p:cNvPr id="14" name="Shape 12"/>
          <p:cNvSpPr/>
          <p:nvPr/>
        </p:nvSpPr>
        <p:spPr>
          <a:xfrm>
            <a:off x="6200775" y="3545435"/>
            <a:ext cx="5175250" cy="941040"/>
          </a:xfrm>
          <a:prstGeom prst="rect">
            <a:avLst/>
          </a:prstGeom>
          <a:solidFill>
            <a:srgbClr val="F4F7F5"/>
          </a:solidFill>
          <a:ln w="6350">
            <a:solidFill>
              <a:srgbClr val="D3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57950" y="3802610"/>
            <a:ext cx="516612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>
                <a:solidFill>
                  <a:srgbClr val="146049"/>
                </a:solidFill>
                <a:ea typeface="Archivo" pitchFamily="34" charset="-122"/>
                <a:cs typeface="Archivo" pitchFamily="34" charset="-120"/>
              </a:rPr>
              <a:t>H3</a:t>
            </a:r>
            <a:endParaRPr lang="en-US" sz="2800"/>
          </a:p>
        </p:txBody>
      </p:sp>
      <p:sp>
        <p:nvSpPr>
          <p:cNvPr id="16" name="Text 14"/>
          <p:cNvSpPr/>
          <p:nvPr/>
        </p:nvSpPr>
        <p:spPr>
          <a:xfrm>
            <a:off x="7091660" y="3878810"/>
            <a:ext cx="2978365" cy="382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2000">
                <a:solidFill>
                  <a:srgbClr val="17291F"/>
                </a:solidFill>
                <a:ea typeface="Archivo" pitchFamily="34" charset="-122"/>
                <a:cs typeface="Archivo" pitchFamily="34" charset="-120"/>
              </a:rPr>
              <a:t>It depends on the dataset</a:t>
            </a:r>
            <a:endParaRPr lang="en-US" sz="200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191AF0A2-3781-912D-82B5-D8F54E8CCBC9}"/>
              </a:ext>
            </a:extLst>
          </p:cNvPr>
          <p:cNvSpPr/>
          <p:nvPr/>
        </p:nvSpPr>
        <p:spPr>
          <a:xfrm>
            <a:off x="812800" y="894060"/>
            <a:ext cx="406400" cy="50800"/>
          </a:xfrm>
          <a:prstGeom prst="rect">
            <a:avLst/>
          </a:prstGeom>
          <a:solidFill>
            <a:srgbClr val="00A8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748A0A9-111F-A627-F220-E6B825BF375D}"/>
              </a:ext>
            </a:extLst>
          </p:cNvPr>
          <p:cNvSpPr/>
          <p:nvPr/>
        </p:nvSpPr>
        <p:spPr>
          <a:xfrm>
            <a:off x="1381246" y="815340"/>
            <a:ext cx="3520261" cy="25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b="1" kern="0" spc="150"/>
              <a:t>INTRODUCTION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3309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6049"/>
                </a:solidFill>
                <a:latin typeface="+mn-lt"/>
                <a:ea typeface="Archivo" pitchFamily="34" charset="-122"/>
                <a:cs typeface="Archivo" pitchFamily="34" charset="-120"/>
              </a:rPr>
              <a:t>Prior work measures agreement, not explanations</a:t>
            </a:r>
            <a:endParaRPr lang="en-US" sz="3200" dirty="0">
              <a:latin typeface="+mn-l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1322" y="2645967"/>
            <a:ext cx="4064000" cy="2368550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96122" y="2950767"/>
            <a:ext cx="3558032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9000"/>
              </a:lnSpc>
              <a:buNone/>
            </a:pPr>
            <a:r>
              <a:rPr lang="en-US" sz="9000" b="1">
                <a:solidFill>
                  <a:srgbClr val="146049"/>
                </a:solidFill>
                <a:ea typeface="Archivo" pitchFamily="34" charset="-122"/>
                <a:cs typeface="Archivo" pitchFamily="34" charset="-120"/>
              </a:rPr>
              <a:t>≤2%</a:t>
            </a:r>
            <a:endParaRPr lang="en-US" sz="9000"/>
          </a:p>
        </p:txBody>
      </p:sp>
      <p:sp>
        <p:nvSpPr>
          <p:cNvPr id="7" name="Text 5"/>
          <p:cNvSpPr/>
          <p:nvPr/>
        </p:nvSpPr>
        <p:spPr>
          <a:xfrm>
            <a:off x="996122" y="4195367"/>
            <a:ext cx="3558032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025"/>
              </a:lnSpc>
            </a:pPr>
            <a:r>
              <a:rPr lang="en-US">
                <a:solidFill>
                  <a:srgbClr val="17291F"/>
                </a:solidFill>
                <a:ea typeface="Archivo"/>
                <a:cs typeface="Archivo" pitchFamily="34" charset="-120"/>
              </a:rPr>
              <a:t>of cases where the two criteria pick a different split [3]</a:t>
            </a: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05890" y="3199323"/>
            <a:ext cx="6431664" cy="1812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3600" b="1">
                <a:solidFill>
                  <a:srgbClr val="146049"/>
                </a:solidFill>
                <a:ea typeface="Archivo"/>
                <a:cs typeface="Archivo" pitchFamily="34" charset="-120"/>
              </a:rPr>
              <a:t>Doesn't specify whether the trees are easier to interpret</a:t>
            </a:r>
            <a:endParaRPr lang="en-US" sz="3600">
              <a:ea typeface="Archivo"/>
            </a:endParaRP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0B27E4AC-75C8-2DE1-D430-E49C8F5CA0CF}"/>
              </a:ext>
            </a:extLst>
          </p:cNvPr>
          <p:cNvSpPr/>
          <p:nvPr/>
        </p:nvSpPr>
        <p:spPr>
          <a:xfrm>
            <a:off x="812800" y="894060"/>
            <a:ext cx="406400" cy="50800"/>
          </a:xfrm>
          <a:prstGeom prst="rect">
            <a:avLst/>
          </a:prstGeom>
          <a:solidFill>
            <a:srgbClr val="00A8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22BF3AD6-5F69-9A42-767F-192574102278}"/>
              </a:ext>
            </a:extLst>
          </p:cNvPr>
          <p:cNvSpPr/>
          <p:nvPr/>
        </p:nvSpPr>
        <p:spPr>
          <a:xfrm>
            <a:off x="1381246" y="815340"/>
            <a:ext cx="3520261" cy="25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b="1" kern="0" spc="150"/>
              <a:t>BACKGROUND RESEARCH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366B6-5126-F344-F2B9-3901AB0A7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3CF747D3-DA35-D2E7-46CB-94CC5A7F9E34}"/>
              </a:ext>
            </a:extLst>
          </p:cNvPr>
          <p:cNvSpPr/>
          <p:nvPr/>
        </p:nvSpPr>
        <p:spPr>
          <a:xfrm>
            <a:off x="812800" y="894060"/>
            <a:ext cx="406400" cy="50800"/>
          </a:xfrm>
          <a:prstGeom prst="rect">
            <a:avLst/>
          </a:prstGeom>
          <a:solidFill>
            <a:srgbClr val="00A8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5FA278E9-24BD-0081-A7B6-9FC5C57D83C2}"/>
              </a:ext>
            </a:extLst>
          </p:cNvPr>
          <p:cNvSpPr/>
          <p:nvPr/>
        </p:nvSpPr>
        <p:spPr>
          <a:xfrm>
            <a:off x="1381246" y="815340"/>
            <a:ext cx="3520261" cy="25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b="1" kern="0" spc="150"/>
              <a:t>BACKGROUND RESEARCH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056D19-4774-37A9-98F5-0865A92465E9}"/>
              </a:ext>
            </a:extLst>
          </p:cNvPr>
          <p:cNvSpPr txBox="1"/>
          <p:nvPr/>
        </p:nvSpPr>
        <p:spPr>
          <a:xfrm>
            <a:off x="806173" y="2225262"/>
            <a:ext cx="10833652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CART (Classification and Regression Trees) is an algorithm that builds a tree from binary yes/no splits [6].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ID3 (Iterative </a:t>
            </a:r>
            <a:r>
              <a:rPr lang="en-US" sz="2400" err="1">
                <a:ea typeface="+mn-lt"/>
                <a:cs typeface="+mn-lt"/>
              </a:rPr>
              <a:t>Dichotomiser</a:t>
            </a:r>
            <a:r>
              <a:rPr lang="en-US" sz="2400">
                <a:ea typeface="+mn-lt"/>
                <a:cs typeface="+mn-lt"/>
              </a:rPr>
              <a:t> 3) is Quinlan’s algorithm that builds a tree from categorical attributes, giving each node one branch per value [7].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CART introduced Gini [6]; ID3 introduced information gain [7].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Trees with more leaves are harder to understand [8].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Small data changes can produce a different tree [9].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83A950-A2FC-576F-390A-37769EC478DA}"/>
              </a:ext>
            </a:extLst>
          </p:cNvPr>
          <p:cNvSpPr txBox="1"/>
          <p:nvPr/>
        </p:nvSpPr>
        <p:spPr>
          <a:xfrm>
            <a:off x="739913" y="1253435"/>
            <a:ext cx="6096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146049"/>
                </a:solidFill>
                <a:ea typeface="Archivo"/>
              </a:rPr>
              <a:t>Additional Info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736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604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D619FF-ED2E-294B-F32B-C0758138C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F5272C2-BEC4-1662-0BA5-1D63C5798D5A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00A85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46049"/>
              </a:solidFill>
              <a:effectLst/>
              <a:uLnTx/>
              <a:uFillTx/>
              <a:latin typeface="Archivo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7DD3335-86CF-F3FE-9E80-1A944EAB6826}"/>
              </a:ext>
            </a:extLst>
          </p:cNvPr>
          <p:cNvSpPr/>
          <p:nvPr/>
        </p:nvSpPr>
        <p:spPr>
          <a:xfrm>
            <a:off x="812800" y="2329160"/>
            <a:ext cx="406400" cy="50800"/>
          </a:xfrm>
          <a:prstGeom prst="rect">
            <a:avLst/>
          </a:prstGeom>
          <a:solidFill>
            <a:srgbClr val="00A85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46049"/>
              </a:solidFill>
              <a:effectLst/>
              <a:uLnTx/>
              <a:uFillTx/>
              <a:latin typeface="Archivo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4B31683-F292-2DCF-D6B6-E556FDA0A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2715220"/>
            <a:ext cx="6787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400"/>
              </a:lnSpc>
            </a:pPr>
            <a:r>
              <a:rPr lang="en-US" sz="4000" b="1" i="0">
                <a:solidFill>
                  <a:srgbClr val="FFFFFF"/>
                </a:solidFill>
                <a:latin typeface="+mn-lt"/>
                <a:ea typeface="Archivo"/>
              </a:rPr>
              <a:t>Datasets that we chose to use and why </a:t>
            </a:r>
            <a:endParaRPr lang="en-US" sz="40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87481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3309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>
                <a:solidFill>
                  <a:srgbClr val="146049"/>
                </a:solidFill>
                <a:latin typeface="+mn-lt"/>
                <a:ea typeface="Archivo" pitchFamily="34" charset="-122"/>
                <a:cs typeface="Archivo" pitchFamily="34" charset="-120"/>
              </a:rPr>
              <a:t>Three medical datasets from UCI</a:t>
            </a:r>
            <a:endParaRPr lang="en-US" sz="3200">
              <a:latin typeface="+mn-l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12800" y="2089100"/>
            <a:ext cx="10566400" cy="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19150" y="2082750"/>
            <a:ext cx="0" cy="2024062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2222450"/>
          <a:ext cx="10299700" cy="1757364"/>
        </p:xfrm>
        <a:graphic>
          <a:graphicData uri="http://schemas.openxmlformats.org/drawingml/2006/table">
            <a:tbl>
              <a:tblPr/>
              <a:tblGrid>
                <a:gridCol w="4737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7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7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5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146049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Dataset</a:t>
                      </a:r>
                      <a:endParaRPr lang="en-US" sz="160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1120" marR="71120" marT="71120" marB="7112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8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146049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Patients</a:t>
                      </a:r>
                      <a:endParaRPr lang="en-US" sz="160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8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146049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Features</a:t>
                      </a:r>
                      <a:endParaRPr lang="en-US" sz="160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8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146049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Predicts</a:t>
                      </a:r>
                      <a:endParaRPr lang="en-US" sz="160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8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>
                          <a:solidFill>
                            <a:srgbClr val="1729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Breast Cancer Wisconsin</a:t>
                      </a:r>
                      <a:endParaRPr lang="en-US" sz="160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1120" marR="71120" marT="71120" marB="7112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sz="1600">
                          <a:solidFill>
                            <a:srgbClr val="1729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569</a:t>
                      </a:r>
                      <a:endParaRPr lang="en-US" sz="160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sz="1600">
                          <a:solidFill>
                            <a:srgbClr val="1729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30</a:t>
                      </a:r>
                      <a:endParaRPr lang="en-US" sz="160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>
                          <a:solidFill>
                            <a:srgbClr val="1729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Malignant</a:t>
                      </a:r>
                      <a:endParaRPr lang="en-US" sz="160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>
                          <a:solidFill>
                            <a:srgbClr val="1729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Heart Disease (Cleveland)</a:t>
                      </a:r>
                      <a:endParaRPr lang="en-US" sz="160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1120" marR="71120" marT="71120" marB="7112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sz="1600">
                          <a:solidFill>
                            <a:srgbClr val="1729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303</a:t>
                      </a:r>
                      <a:endParaRPr lang="en-US" sz="160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sz="1600">
                          <a:solidFill>
                            <a:srgbClr val="1729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13</a:t>
                      </a:r>
                      <a:endParaRPr lang="en-US" sz="160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>
                          <a:solidFill>
                            <a:srgbClr val="1729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Disease</a:t>
                      </a:r>
                      <a:endParaRPr lang="en-US" sz="160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>
                          <a:solidFill>
                            <a:srgbClr val="1729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Heart Failure Clinical Records</a:t>
                      </a:r>
                      <a:endParaRPr lang="en-US" sz="160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1120" marR="71120" marT="71120" marB="7112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sz="1600">
                          <a:solidFill>
                            <a:srgbClr val="1729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299</a:t>
                      </a:r>
                      <a:endParaRPr lang="en-US" sz="160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240"/>
                        </a:lnSpc>
                        <a:buNone/>
                      </a:pPr>
                      <a:r>
                        <a:rPr lang="en-US" sz="1600">
                          <a:solidFill>
                            <a:srgbClr val="1729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12</a:t>
                      </a:r>
                      <a:endParaRPr lang="en-US" sz="160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>
                          <a:solidFill>
                            <a:srgbClr val="1729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Death</a:t>
                      </a:r>
                      <a:endParaRPr lang="en-US" sz="160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Shape 0">
            <a:extLst>
              <a:ext uri="{FF2B5EF4-FFF2-40B4-BE49-F238E27FC236}">
                <a16:creationId xmlns:a16="http://schemas.microsoft.com/office/drawing/2014/main" id="{AC035DE6-B865-E02E-8A75-7AE6F6BA4252}"/>
              </a:ext>
            </a:extLst>
          </p:cNvPr>
          <p:cNvSpPr/>
          <p:nvPr/>
        </p:nvSpPr>
        <p:spPr>
          <a:xfrm>
            <a:off x="812800" y="894060"/>
            <a:ext cx="406400" cy="50800"/>
          </a:xfrm>
          <a:prstGeom prst="rect">
            <a:avLst/>
          </a:prstGeom>
          <a:solidFill>
            <a:srgbClr val="00A8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83BAE179-695D-A646-1125-CB88CF4585C7}"/>
              </a:ext>
            </a:extLst>
          </p:cNvPr>
          <p:cNvSpPr/>
          <p:nvPr/>
        </p:nvSpPr>
        <p:spPr>
          <a:xfrm>
            <a:off x="1381246" y="815340"/>
            <a:ext cx="3520261" cy="25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kern="0" spc="150"/>
              <a:t>DATASETS CHOSEN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3309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>
                <a:solidFill>
                  <a:srgbClr val="146049"/>
                </a:solidFill>
                <a:latin typeface="+mn-lt"/>
                <a:ea typeface="Archivo" pitchFamily="34" charset="-122"/>
                <a:cs typeface="Archivo" pitchFamily="34" charset="-120"/>
              </a:rPr>
              <a:t>Three cleaning decisions</a:t>
            </a:r>
            <a:endParaRPr lang="en-US" sz="3200">
              <a:latin typeface="+mn-l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12800" y="2082750"/>
            <a:ext cx="3386634" cy="1501130"/>
          </a:xfrm>
          <a:prstGeom prst="rect">
            <a:avLst/>
          </a:prstGeom>
          <a:solidFill>
            <a:srgbClr val="F4F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12800" y="2108150"/>
            <a:ext cx="3386634" cy="0"/>
          </a:xfrm>
          <a:prstGeom prst="line">
            <a:avLst/>
          </a:prstGeom>
          <a:noFill/>
          <a:ln w="50800">
            <a:solidFill>
              <a:srgbClr val="00A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66800" y="2387550"/>
            <a:ext cx="296499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>
                <a:solidFill>
                  <a:srgbClr val="52665D"/>
                </a:solidFill>
                <a:ea typeface="Archivo" pitchFamily="34" charset="-122"/>
                <a:cs typeface="Archivo" pitchFamily="34" charset="-120"/>
              </a:rPr>
              <a:t>Heart disease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1066800" y="2720280"/>
            <a:ext cx="313263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>
                <a:solidFill>
                  <a:srgbClr val="146049"/>
                </a:solidFill>
                <a:ea typeface="Archivo" pitchFamily="34" charset="-122"/>
                <a:cs typeface="Archivo" pitchFamily="34" charset="-120"/>
              </a:rPr>
              <a:t>Severity 0–4 → yes / no</a:t>
            </a:r>
            <a:endParaRPr lang="en-US" sz="2000"/>
          </a:p>
        </p:txBody>
      </p:sp>
      <p:sp>
        <p:nvSpPr>
          <p:cNvPr id="9" name="Shape 7"/>
          <p:cNvSpPr/>
          <p:nvPr/>
        </p:nvSpPr>
        <p:spPr>
          <a:xfrm>
            <a:off x="4402634" y="2082750"/>
            <a:ext cx="3386683" cy="1501130"/>
          </a:xfrm>
          <a:prstGeom prst="rect">
            <a:avLst/>
          </a:prstGeom>
          <a:solidFill>
            <a:srgbClr val="F4F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02634" y="2108150"/>
            <a:ext cx="3386683" cy="0"/>
          </a:xfrm>
          <a:prstGeom prst="line">
            <a:avLst/>
          </a:prstGeom>
          <a:noFill/>
          <a:ln w="50800">
            <a:solidFill>
              <a:srgbClr val="00A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56634" y="2387550"/>
            <a:ext cx="296504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>
                <a:solidFill>
                  <a:srgbClr val="52665D"/>
                </a:solidFill>
                <a:ea typeface="Archivo" pitchFamily="34" charset="-122"/>
                <a:cs typeface="Archivo" pitchFamily="34" charset="-120"/>
              </a:rPr>
              <a:t>Heart disease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4656634" y="2720280"/>
            <a:ext cx="296504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>
                <a:solidFill>
                  <a:srgbClr val="146049"/>
                </a:solidFill>
                <a:ea typeface="Archivo" pitchFamily="34" charset="-122"/>
                <a:cs typeface="Archivo" pitchFamily="34" charset="-120"/>
              </a:rPr>
              <a:t>6 missing values imputed</a:t>
            </a:r>
            <a:endParaRPr lang="en-US" sz="2000"/>
          </a:p>
        </p:txBody>
      </p:sp>
      <p:sp>
        <p:nvSpPr>
          <p:cNvPr id="13" name="Shape 11"/>
          <p:cNvSpPr/>
          <p:nvPr/>
        </p:nvSpPr>
        <p:spPr>
          <a:xfrm>
            <a:off x="7992517" y="2082750"/>
            <a:ext cx="3386683" cy="1501130"/>
          </a:xfrm>
          <a:prstGeom prst="rect">
            <a:avLst/>
          </a:prstGeom>
          <a:solidFill>
            <a:srgbClr val="1460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992517" y="2108150"/>
            <a:ext cx="3386683" cy="0"/>
          </a:xfrm>
          <a:prstGeom prst="line">
            <a:avLst/>
          </a:prstGeom>
          <a:noFill/>
          <a:ln w="50800">
            <a:solidFill>
              <a:srgbClr val="00A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46517" y="2387550"/>
            <a:ext cx="296504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>
                <a:solidFill>
                  <a:srgbClr val="8FD9B0"/>
                </a:solidFill>
                <a:ea typeface="Archivo" pitchFamily="34" charset="-122"/>
                <a:cs typeface="Archivo" pitchFamily="34" charset="-120"/>
              </a:rPr>
              <a:t>Heart failure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8246517" y="2720280"/>
            <a:ext cx="296504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>
                <a:solidFill>
                  <a:srgbClr val="FFFFFF"/>
                </a:solidFill>
                <a:ea typeface="Archivo" pitchFamily="34" charset="-122"/>
                <a:cs typeface="Archivo" pitchFamily="34" charset="-120"/>
              </a:rPr>
              <a:t>Dropped "time": it leaks the outcome</a:t>
            </a:r>
            <a:endParaRPr lang="en-US" sz="200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80E8EA76-18BC-E646-B915-87B6098E7936}"/>
              </a:ext>
            </a:extLst>
          </p:cNvPr>
          <p:cNvSpPr/>
          <p:nvPr/>
        </p:nvSpPr>
        <p:spPr>
          <a:xfrm>
            <a:off x="812800" y="894060"/>
            <a:ext cx="406400" cy="50800"/>
          </a:xfrm>
          <a:prstGeom prst="rect">
            <a:avLst/>
          </a:prstGeom>
          <a:solidFill>
            <a:srgbClr val="00A8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C1131F9B-B8D0-9F63-75D5-B6E6211F9EEE}"/>
              </a:ext>
            </a:extLst>
          </p:cNvPr>
          <p:cNvSpPr/>
          <p:nvPr/>
        </p:nvSpPr>
        <p:spPr>
          <a:xfrm>
            <a:off x="1381246" y="815340"/>
            <a:ext cx="3520261" cy="25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kern="0" spc="150"/>
              <a:t>DATASET FEATURES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604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28F149-4DCD-5358-9CBE-14EFE3C1A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9FEEF80-0688-A6C5-DA79-697E9E3E247F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00A85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46049"/>
              </a:solidFill>
              <a:effectLst/>
              <a:uLnTx/>
              <a:uFillTx/>
              <a:latin typeface="Archivo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321EDF3-A59E-A375-EB98-C15F8213344F}"/>
              </a:ext>
            </a:extLst>
          </p:cNvPr>
          <p:cNvSpPr/>
          <p:nvPr/>
        </p:nvSpPr>
        <p:spPr>
          <a:xfrm>
            <a:off x="812800" y="2329160"/>
            <a:ext cx="406400" cy="50800"/>
          </a:xfrm>
          <a:prstGeom prst="rect">
            <a:avLst/>
          </a:prstGeom>
          <a:solidFill>
            <a:srgbClr val="00A85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46049"/>
              </a:solidFill>
              <a:effectLst/>
              <a:uLnTx/>
              <a:uFillTx/>
              <a:latin typeface="Archivo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6397C42-C7BD-9DBE-4C73-91AD0136B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2715220"/>
            <a:ext cx="829187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400"/>
              </a:lnSpc>
            </a:pPr>
            <a:r>
              <a:rPr lang="en-US" sz="4000" b="1" i="0">
                <a:solidFill>
                  <a:srgbClr val="FFFFFF"/>
                </a:solidFill>
                <a:latin typeface="+mn-lt"/>
                <a:ea typeface="Archivo"/>
              </a:rPr>
              <a:t>Analysis methods for interpretability and explainability</a:t>
            </a:r>
            <a:endParaRPr lang="en-US" sz="40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90436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70D51-3348-043A-7920-87FEB5EE8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058CEF7D-813C-A069-BE6A-A65D0A7B0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3309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600" b="1">
                <a:latin typeface="+mn-lt"/>
              </a:rPr>
              <a:t>Structure &amp; Complexity</a:t>
            </a:r>
            <a:endParaRPr lang="en-US" sz="3600">
              <a:latin typeface="+mn-lt"/>
            </a:endParaRP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D9253A7A-82C5-8492-2330-57DED63A5B00}"/>
              </a:ext>
            </a:extLst>
          </p:cNvPr>
          <p:cNvSpPr/>
          <p:nvPr/>
        </p:nvSpPr>
        <p:spPr>
          <a:xfrm>
            <a:off x="812800" y="894060"/>
            <a:ext cx="406400" cy="50800"/>
          </a:xfrm>
          <a:prstGeom prst="rect">
            <a:avLst/>
          </a:prstGeom>
          <a:solidFill>
            <a:srgbClr val="00A8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356A4786-DB1D-6817-AD95-C430C16DEE99}"/>
              </a:ext>
            </a:extLst>
          </p:cNvPr>
          <p:cNvSpPr/>
          <p:nvPr/>
        </p:nvSpPr>
        <p:spPr>
          <a:xfrm>
            <a:off x="1381246" y="815340"/>
            <a:ext cx="3520261" cy="25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kern="0" spc="150"/>
              <a:t>ANALYSIS METHODS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B02AFE4-EC4B-BC41-E821-A13E26B1C100}"/>
              </a:ext>
            </a:extLst>
          </p:cNvPr>
          <p:cNvSpPr/>
          <p:nvPr/>
        </p:nvSpPr>
        <p:spPr>
          <a:xfrm>
            <a:off x="812801" y="2418551"/>
            <a:ext cx="3330937" cy="564678"/>
          </a:xfrm>
          <a:prstGeom prst="rect">
            <a:avLst/>
          </a:prstGeom>
          <a:solidFill>
            <a:srgbClr val="F4F7F5"/>
          </a:solidFill>
          <a:ln w="6350">
            <a:solidFill>
              <a:srgbClr val="D3E1DA"/>
            </a:solidFill>
            <a:prstDash val="solid"/>
          </a:ln>
        </p:spPr>
        <p:txBody>
          <a:bodyPr anchor="ctr" anchorCtr="0"/>
          <a:lstStyle/>
          <a:p>
            <a:r>
              <a:rPr lang="en-US" sz="2800"/>
              <a:t>Tree Depth</a:t>
            </a: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77DE4C4B-6605-1416-5961-79632FBC9C40}"/>
              </a:ext>
            </a:extLst>
          </p:cNvPr>
          <p:cNvSpPr/>
          <p:nvPr/>
        </p:nvSpPr>
        <p:spPr>
          <a:xfrm>
            <a:off x="812801" y="3505322"/>
            <a:ext cx="3330937" cy="564678"/>
          </a:xfrm>
          <a:prstGeom prst="rect">
            <a:avLst/>
          </a:prstGeom>
          <a:solidFill>
            <a:srgbClr val="F4F7F5"/>
          </a:solidFill>
          <a:ln w="6350">
            <a:solidFill>
              <a:srgbClr val="D3E1DA"/>
            </a:solidFill>
            <a:prstDash val="solid"/>
          </a:ln>
        </p:spPr>
        <p:txBody>
          <a:bodyPr anchor="ctr" anchorCtr="0"/>
          <a:lstStyle/>
          <a:p>
            <a:r>
              <a:rPr lang="en-US" sz="2800"/>
              <a:t>Node / Leaf Count</a:t>
            </a:r>
            <a:endParaRPr lang="en-US" sz="200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151673B8-E1B9-3E29-DDAC-B74576F25AF2}"/>
              </a:ext>
            </a:extLst>
          </p:cNvPr>
          <p:cNvSpPr/>
          <p:nvPr/>
        </p:nvSpPr>
        <p:spPr>
          <a:xfrm>
            <a:off x="812800" y="4592093"/>
            <a:ext cx="3330937" cy="564678"/>
          </a:xfrm>
          <a:prstGeom prst="rect">
            <a:avLst/>
          </a:prstGeom>
          <a:solidFill>
            <a:srgbClr val="F4F7F5"/>
          </a:solidFill>
          <a:ln w="6350">
            <a:solidFill>
              <a:srgbClr val="D3E1DA"/>
            </a:solidFill>
            <a:prstDash val="solid"/>
          </a:ln>
        </p:spPr>
        <p:txBody>
          <a:bodyPr anchor="ctr" anchorCtr="0"/>
          <a:lstStyle/>
          <a:p>
            <a:r>
              <a:rPr lang="en-US" sz="2800"/>
              <a:t>Features Used</a:t>
            </a:r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FE729B9E-E48C-6292-C62A-4DED34BDC8B2}"/>
              </a:ext>
            </a:extLst>
          </p:cNvPr>
          <p:cNvSpPr/>
          <p:nvPr/>
        </p:nvSpPr>
        <p:spPr>
          <a:xfrm>
            <a:off x="4901508" y="2364690"/>
            <a:ext cx="5353663" cy="93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2000"/>
              <a:t>Deeper trees are less interpretable, and they require more splitting decision points.</a:t>
            </a: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B51D786D-91B3-46C1-0857-9BB4AE69FA7B}"/>
              </a:ext>
            </a:extLst>
          </p:cNvPr>
          <p:cNvSpPr/>
          <p:nvPr/>
        </p:nvSpPr>
        <p:spPr>
          <a:xfrm>
            <a:off x="4901509" y="3505322"/>
            <a:ext cx="5757980" cy="564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2000"/>
              <a:t>More nodes or leaves on a tree means more possible paths for the model to reach a given outcome.</a:t>
            </a: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353C9E25-894B-4754-06F8-969FE522869D}"/>
              </a:ext>
            </a:extLst>
          </p:cNvPr>
          <p:cNvSpPr/>
          <p:nvPr/>
        </p:nvSpPr>
        <p:spPr>
          <a:xfrm>
            <a:off x="4901508" y="4463822"/>
            <a:ext cx="5550433" cy="821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2000"/>
              <a:t>Less features means less information you need to hold in your head to explain a model prediction.</a:t>
            </a:r>
          </a:p>
        </p:txBody>
      </p:sp>
    </p:spTree>
    <p:extLst>
      <p:ext uri="{BB962C8B-B14F-4D97-AF65-F5344CB8AC3E}">
        <p14:creationId xmlns:p14="http://schemas.microsoft.com/office/powerpoint/2010/main" val="536457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BA8A2-9BE2-AE09-F997-DA2AEBF9C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6D3CB1FA-0CD3-82E9-324C-E1D7FA1F0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330920"/>
            <a:ext cx="119938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600" b="1">
                <a:latin typeface="+mn-lt"/>
              </a:rPr>
              <a:t>Tree Stability</a:t>
            </a:r>
            <a:endParaRPr lang="en-US" sz="3600">
              <a:latin typeface="+mn-lt"/>
            </a:endParaRP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BEA989A3-DE34-DC8F-7587-09E685A7DEF8}"/>
              </a:ext>
            </a:extLst>
          </p:cNvPr>
          <p:cNvSpPr/>
          <p:nvPr/>
        </p:nvSpPr>
        <p:spPr>
          <a:xfrm>
            <a:off x="812800" y="894060"/>
            <a:ext cx="406400" cy="50800"/>
          </a:xfrm>
          <a:prstGeom prst="rect">
            <a:avLst/>
          </a:prstGeom>
          <a:solidFill>
            <a:srgbClr val="00A8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B1BC8B76-57BB-BE86-E5F2-32C4DFD124B5}"/>
              </a:ext>
            </a:extLst>
          </p:cNvPr>
          <p:cNvSpPr/>
          <p:nvPr/>
        </p:nvSpPr>
        <p:spPr>
          <a:xfrm>
            <a:off x="1381246" y="815340"/>
            <a:ext cx="3520261" cy="25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kern="0" spc="150"/>
              <a:t>ANALYSIS METHODS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EA2ECA7-5BFB-0353-BD98-62617EC56EA8}"/>
              </a:ext>
            </a:extLst>
          </p:cNvPr>
          <p:cNvSpPr/>
          <p:nvPr/>
        </p:nvSpPr>
        <p:spPr>
          <a:xfrm>
            <a:off x="812799" y="2003408"/>
            <a:ext cx="9461911" cy="564678"/>
          </a:xfrm>
          <a:prstGeom prst="rect">
            <a:avLst/>
          </a:prstGeom>
          <a:solidFill>
            <a:srgbClr val="F4F7F5"/>
          </a:solidFill>
          <a:ln w="6350">
            <a:solidFill>
              <a:srgbClr val="D3E1DA"/>
            </a:solidFill>
            <a:prstDash val="solid"/>
          </a:ln>
        </p:spPr>
        <p:txBody>
          <a:bodyPr anchor="ctr" anchorCtr="0"/>
          <a:lstStyle/>
          <a:p>
            <a:r>
              <a:rPr lang="en-US" sz="2800"/>
              <a:t>More stable splitting method means better interpretability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5AE909BB-AD27-293B-FCEF-DFB9C5193A66}"/>
              </a:ext>
            </a:extLst>
          </p:cNvPr>
          <p:cNvSpPr/>
          <p:nvPr/>
        </p:nvSpPr>
        <p:spPr>
          <a:xfrm>
            <a:off x="812799" y="2861898"/>
            <a:ext cx="9582485" cy="3102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2400"/>
              <a:t>What does it mean for a splitting criterion to be “more stable”?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Does the structure stay roughly the same?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Are the most important features the same?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/>
          </a:p>
          <a:p>
            <a:r>
              <a:rPr lang="en-US" sz="2400"/>
              <a:t>Tested by running the same split method against </a:t>
            </a:r>
            <a:r>
              <a:rPr lang="en-US" sz="2400" b="1"/>
              <a:t>different train/test splits</a:t>
            </a:r>
            <a:r>
              <a:rPr lang="en-US" sz="2400"/>
              <a:t> of the data!</a:t>
            </a:r>
          </a:p>
        </p:txBody>
      </p:sp>
    </p:spTree>
    <p:extLst>
      <p:ext uri="{BB962C8B-B14F-4D97-AF65-F5344CB8AC3E}">
        <p14:creationId xmlns:p14="http://schemas.microsoft.com/office/powerpoint/2010/main" val="3611939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F1D14-32AE-23CC-A703-12C7F983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A8ABE627-B363-7B7C-A10E-350550417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330919"/>
            <a:ext cx="8768748" cy="669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600" b="1">
                <a:latin typeface="+mn-lt"/>
              </a:rPr>
              <a:t>Accuracy vs Depth</a:t>
            </a:r>
            <a:endParaRPr lang="en-US" sz="3600">
              <a:latin typeface="+mn-lt"/>
            </a:endParaRP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C7C9F0BB-38C4-46E3-4B9D-E82FC523E7D9}"/>
              </a:ext>
            </a:extLst>
          </p:cNvPr>
          <p:cNvSpPr/>
          <p:nvPr/>
        </p:nvSpPr>
        <p:spPr>
          <a:xfrm>
            <a:off x="812800" y="894060"/>
            <a:ext cx="406400" cy="50800"/>
          </a:xfrm>
          <a:prstGeom prst="rect">
            <a:avLst/>
          </a:prstGeom>
          <a:solidFill>
            <a:srgbClr val="00A8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E47ED3DD-EFF6-278C-7C97-375F1FB757E9}"/>
              </a:ext>
            </a:extLst>
          </p:cNvPr>
          <p:cNvSpPr/>
          <p:nvPr/>
        </p:nvSpPr>
        <p:spPr>
          <a:xfrm>
            <a:off x="1381246" y="815340"/>
            <a:ext cx="3520261" cy="25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kern="0" spc="150"/>
              <a:t>ANALYSIS METHODS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0258FA6-27AF-3BC7-A91B-2C5FB0D043D4}"/>
              </a:ext>
            </a:extLst>
          </p:cNvPr>
          <p:cNvSpPr/>
          <p:nvPr/>
        </p:nvSpPr>
        <p:spPr>
          <a:xfrm>
            <a:off x="812799" y="2059889"/>
            <a:ext cx="4744721" cy="1094915"/>
          </a:xfrm>
          <a:prstGeom prst="rect">
            <a:avLst/>
          </a:prstGeom>
          <a:solidFill>
            <a:srgbClr val="F4F7F5"/>
          </a:solidFill>
          <a:ln w="6350">
            <a:solidFill>
              <a:srgbClr val="D3E1DA"/>
            </a:solidFill>
            <a:prstDash val="solid"/>
          </a:ln>
        </p:spPr>
        <p:txBody>
          <a:bodyPr anchor="ctr" anchorCtr="0"/>
          <a:lstStyle/>
          <a:p>
            <a:r>
              <a:rPr lang="en-US" sz="2800"/>
              <a:t>Tree accuracy at fixed depths (3/5/7/10)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22149C8F-A8DF-A072-4595-1B51EBFC5E23}"/>
              </a:ext>
            </a:extLst>
          </p:cNvPr>
          <p:cNvSpPr/>
          <p:nvPr/>
        </p:nvSpPr>
        <p:spPr>
          <a:xfrm>
            <a:off x="812799" y="3429000"/>
            <a:ext cx="3517559" cy="2856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2000" dirty="0"/>
              <a:t>Accuracy at larger depth comes at the expense of explainability!</a:t>
            </a:r>
          </a:p>
          <a:p>
            <a:endParaRPr lang="en-US" sz="2000" dirty="0"/>
          </a:p>
          <a:p>
            <a:r>
              <a:rPr lang="en-US" sz="2000" dirty="0"/>
              <a:t>If one splitting criterion is more accurate at a set, shallow depth, then it provides more interpretability power per unit of complexity.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6AA22A-D4E2-AB44-8B69-00F3A61A8A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19" t="9778" r="4259" b="10370"/>
          <a:stretch>
            <a:fillRect/>
          </a:stretch>
        </p:blipFill>
        <p:spPr>
          <a:xfrm>
            <a:off x="6593207" y="919460"/>
            <a:ext cx="2204725" cy="23876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DE89AA-2501-745E-F583-3853DED16C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7174" y="3668989"/>
            <a:ext cx="6591874" cy="24188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F48A112-A0E0-252D-0A31-393842B73395}"/>
              </a:ext>
            </a:extLst>
          </p:cNvPr>
          <p:cNvSpPr txBox="1"/>
          <p:nvPr/>
        </p:nvSpPr>
        <p:spPr>
          <a:xfrm>
            <a:off x="9177606" y="919460"/>
            <a:ext cx="2746150" cy="2492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Same dataset (</a:t>
            </a:r>
            <a:r>
              <a:rPr lang="en-US" err="1"/>
              <a:t>heart_failure</a:t>
            </a:r>
            <a:r>
              <a:rPr lang="en-US"/>
              <a:t>) split on entropy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46049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4604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Limited depth of 3 has only 7 leaves, 75% accuracy</a:t>
            </a:r>
            <a:endParaRPr lang="en-US"/>
          </a:p>
          <a:p>
            <a:endParaRPr lang="en-US" sz="1400"/>
          </a:p>
          <a:p>
            <a:r>
              <a:rPr lang="en-US" sz="1400"/>
              <a:t>Unlimited depth arrived at 14 with 50 leaves, 60% accuracy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349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625987" y="2058507"/>
            <a:ext cx="11379200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>
                <a:solidFill>
                  <a:srgbClr val="146049"/>
                </a:solidFill>
                <a:latin typeface="+mn-lt"/>
                <a:ea typeface="Archivo" pitchFamily="34" charset="-122"/>
                <a:cs typeface="Archivo" pitchFamily="34" charset="-120"/>
              </a:rPr>
              <a:t>Full analysis pipeline, only the criterion changes</a:t>
            </a:r>
            <a:endParaRPr lang="en-US" sz="3200">
              <a:latin typeface="+mn-l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25987" y="2810337"/>
            <a:ext cx="1747490" cy="914350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778387" y="3013537"/>
            <a:ext cx="149349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000" b="1">
                <a:solidFill>
                  <a:srgbClr val="146049"/>
                </a:solidFill>
                <a:ea typeface="Archivo" pitchFamily="34" charset="-122"/>
                <a:cs typeface="Archivo" pitchFamily="34" charset="-120"/>
              </a:rPr>
              <a:t>Download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8387" y="3308167"/>
            <a:ext cx="14934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>
                <a:solidFill>
                  <a:srgbClr val="52665D"/>
                </a:solidFill>
                <a:ea typeface="Archivo" pitchFamily="34" charset="-122"/>
                <a:cs typeface="Archivo" pitchFamily="34" charset="-120"/>
              </a:rPr>
              <a:t>UCI by dataset id</a:t>
            </a:r>
            <a:endParaRPr lang="en-US" sz="1600"/>
          </a:p>
        </p:txBody>
      </p:sp>
      <p:pic>
        <p:nvPicPr>
          <p:cNvPr id="8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75077" y="3191288"/>
            <a:ext cx="254000" cy="152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830677" y="2810337"/>
            <a:ext cx="1747540" cy="914350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7"/>
          <p:cNvSpPr/>
          <p:nvPr/>
        </p:nvSpPr>
        <p:spPr>
          <a:xfrm>
            <a:off x="2983077" y="3013537"/>
            <a:ext cx="149354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000" b="1">
                <a:solidFill>
                  <a:srgbClr val="146049"/>
                </a:solidFill>
                <a:ea typeface="Archivo" pitchFamily="34" charset="-122"/>
                <a:cs typeface="Archivo" pitchFamily="34" charset="-120"/>
              </a:rPr>
              <a:t>Clean</a:t>
            </a:r>
            <a:endParaRPr lang="en-US" sz="2000"/>
          </a:p>
        </p:txBody>
      </p:sp>
      <p:sp>
        <p:nvSpPr>
          <p:cNvPr id="11" name="Text 8"/>
          <p:cNvSpPr/>
          <p:nvPr/>
        </p:nvSpPr>
        <p:spPr>
          <a:xfrm>
            <a:off x="2983077" y="3308167"/>
            <a:ext cx="14935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>
                <a:solidFill>
                  <a:srgbClr val="52665D"/>
                </a:solidFill>
                <a:ea typeface="Archivo" pitchFamily="34" charset="-122"/>
                <a:cs typeface="Archivo" pitchFamily="34" charset="-120"/>
              </a:rPr>
              <a:t>Encode, impute</a:t>
            </a:r>
            <a:endParaRPr lang="en-US" sz="1600"/>
          </a:p>
        </p:txBody>
      </p:sp>
      <p:pic>
        <p:nvPicPr>
          <p:cNvPr id="12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79817" y="3191288"/>
            <a:ext cx="254000" cy="1524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035417" y="2810337"/>
            <a:ext cx="1747490" cy="914350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0"/>
          <p:cNvSpPr/>
          <p:nvPr/>
        </p:nvSpPr>
        <p:spPr>
          <a:xfrm>
            <a:off x="5187817" y="3013537"/>
            <a:ext cx="149349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000" b="1">
                <a:solidFill>
                  <a:srgbClr val="146049"/>
                </a:solidFill>
                <a:ea typeface="Archivo" pitchFamily="34" charset="-122"/>
                <a:cs typeface="Archivo" pitchFamily="34" charset="-120"/>
              </a:rPr>
              <a:t>Split</a:t>
            </a:r>
            <a:endParaRPr lang="en-US" sz="2000"/>
          </a:p>
        </p:txBody>
      </p:sp>
      <p:sp>
        <p:nvSpPr>
          <p:cNvPr id="15" name="Text 11"/>
          <p:cNvSpPr/>
          <p:nvPr/>
        </p:nvSpPr>
        <p:spPr>
          <a:xfrm>
            <a:off x="5187817" y="3308167"/>
            <a:ext cx="14934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>
                <a:solidFill>
                  <a:srgbClr val="52665D"/>
                </a:solidFill>
                <a:ea typeface="Archivo" pitchFamily="34" charset="-122"/>
                <a:cs typeface="Archivo" pitchFamily="34" charset="-120"/>
              </a:rPr>
              <a:t>80/20, stratified</a:t>
            </a:r>
            <a:endParaRPr lang="en-US" sz="1600"/>
          </a:p>
        </p:txBody>
      </p:sp>
      <p:pic>
        <p:nvPicPr>
          <p:cNvPr id="16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84507" y="3191288"/>
            <a:ext cx="254000" cy="1524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240107" y="2810337"/>
            <a:ext cx="1747540" cy="914350"/>
          </a:xfrm>
          <a:prstGeom prst="rect">
            <a:avLst/>
          </a:prstGeom>
          <a:solidFill>
            <a:srgbClr val="14604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Text 13"/>
          <p:cNvSpPr/>
          <p:nvPr/>
        </p:nvSpPr>
        <p:spPr>
          <a:xfrm>
            <a:off x="7392507" y="3013537"/>
            <a:ext cx="149354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000" b="1">
                <a:solidFill>
                  <a:srgbClr val="FFFFFF"/>
                </a:solidFill>
                <a:ea typeface="Archivo" pitchFamily="34" charset="-122"/>
                <a:cs typeface="Archivo" pitchFamily="34" charset="-120"/>
              </a:rPr>
              <a:t>Train ×2</a:t>
            </a:r>
            <a:endParaRPr lang="en-US" sz="2000"/>
          </a:p>
        </p:txBody>
      </p:sp>
      <p:sp>
        <p:nvSpPr>
          <p:cNvPr id="19" name="Text 14"/>
          <p:cNvSpPr/>
          <p:nvPr/>
        </p:nvSpPr>
        <p:spPr>
          <a:xfrm>
            <a:off x="7392507" y="3308167"/>
            <a:ext cx="14935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>
                <a:solidFill>
                  <a:srgbClr val="D6EBE0"/>
                </a:solidFill>
                <a:ea typeface="Archivo" pitchFamily="34" charset="-122"/>
                <a:cs typeface="Archivo" pitchFamily="34" charset="-120"/>
              </a:rPr>
              <a:t>Gini, entropy</a:t>
            </a:r>
            <a:endParaRPr lang="en-US" sz="1600"/>
          </a:p>
        </p:txBody>
      </p:sp>
      <p:pic>
        <p:nvPicPr>
          <p:cNvPr id="20" name="Image 3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89247" y="3191288"/>
            <a:ext cx="254000" cy="1524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9444847" y="2810337"/>
            <a:ext cx="1747540" cy="914350"/>
          </a:xfrm>
          <a:prstGeom prst="rect">
            <a:avLst/>
          </a:prstGeom>
          <a:solidFill>
            <a:srgbClr val="E6F4E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2" name="Text 16"/>
          <p:cNvSpPr/>
          <p:nvPr/>
        </p:nvSpPr>
        <p:spPr>
          <a:xfrm>
            <a:off x="9597247" y="3013537"/>
            <a:ext cx="149354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000" b="1">
                <a:solidFill>
                  <a:srgbClr val="146049"/>
                </a:solidFill>
                <a:ea typeface="Archivo" pitchFamily="34" charset="-122"/>
                <a:cs typeface="Archivo" pitchFamily="34" charset="-120"/>
              </a:rPr>
              <a:t>Compare</a:t>
            </a:r>
            <a:endParaRPr lang="en-US" sz="2000"/>
          </a:p>
        </p:txBody>
      </p:sp>
      <p:sp>
        <p:nvSpPr>
          <p:cNvPr id="23" name="Text 17"/>
          <p:cNvSpPr/>
          <p:nvPr/>
        </p:nvSpPr>
        <p:spPr>
          <a:xfrm>
            <a:off x="9597247" y="3308167"/>
            <a:ext cx="14935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>
                <a:solidFill>
                  <a:srgbClr val="52665D"/>
                </a:solidFill>
                <a:ea typeface="Archivo" pitchFamily="34" charset="-122"/>
                <a:cs typeface="Archivo" pitchFamily="34" charset="-120"/>
              </a:rPr>
              <a:t>Top 3 levels</a:t>
            </a:r>
            <a:endParaRPr lang="en-US" sz="1600"/>
          </a:p>
        </p:txBody>
      </p:sp>
      <p:sp>
        <p:nvSpPr>
          <p:cNvPr id="24" name="Text 18"/>
          <p:cNvSpPr/>
          <p:nvPr/>
        </p:nvSpPr>
        <p:spPr>
          <a:xfrm>
            <a:off x="625986" y="4105687"/>
            <a:ext cx="907845" cy="289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00" b="1">
                <a:solidFill>
                  <a:srgbClr val="52665D"/>
                </a:solidFill>
                <a:ea typeface="Archivo" pitchFamily="34" charset="-122"/>
                <a:cs typeface="Archivo" pitchFamily="34" charset="-120"/>
              </a:rPr>
              <a:t>Metrics:</a:t>
            </a:r>
            <a:endParaRPr lang="en-US" sz="1600"/>
          </a:p>
        </p:txBody>
      </p:sp>
      <p:sp>
        <p:nvSpPr>
          <p:cNvPr id="25" name="Text 19"/>
          <p:cNvSpPr/>
          <p:nvPr/>
        </p:nvSpPr>
        <p:spPr>
          <a:xfrm>
            <a:off x="1533831" y="4064937"/>
            <a:ext cx="2462187" cy="370830"/>
          </a:xfrm>
          <a:prstGeom prst="rect">
            <a:avLst/>
          </a:prstGeom>
          <a:noFill/>
          <a:ln w="12700">
            <a:solidFill>
              <a:srgbClr val="146049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600" b="1">
                <a:solidFill>
                  <a:srgbClr val="146049"/>
                </a:solidFill>
                <a:ea typeface="Archivo" pitchFamily="34" charset="-122"/>
                <a:cs typeface="Archivo" pitchFamily="34" charset="-120"/>
              </a:rPr>
              <a:t>Tree structure and depth</a:t>
            </a:r>
            <a:endParaRPr lang="en-US" sz="1600"/>
          </a:p>
        </p:txBody>
      </p:sp>
      <p:sp>
        <p:nvSpPr>
          <p:cNvPr id="26" name="Text 20"/>
          <p:cNvSpPr/>
          <p:nvPr/>
        </p:nvSpPr>
        <p:spPr>
          <a:xfrm>
            <a:off x="7352129" y="4064937"/>
            <a:ext cx="2937326" cy="370830"/>
          </a:xfrm>
          <a:prstGeom prst="rect">
            <a:avLst/>
          </a:prstGeom>
          <a:noFill/>
          <a:ln w="12700">
            <a:solidFill>
              <a:srgbClr val="146049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600" b="1">
                <a:solidFill>
                  <a:srgbClr val="146049"/>
                </a:solidFill>
                <a:ea typeface="Archivo" pitchFamily="34" charset="-122"/>
                <a:cs typeface="Archivo" pitchFamily="34" charset="-120"/>
              </a:rPr>
              <a:t>Accuracy at depth 3 / 5 / 7 / 10</a:t>
            </a:r>
            <a:endParaRPr lang="en-US" sz="1600"/>
          </a:p>
        </p:txBody>
      </p:sp>
      <p:sp>
        <p:nvSpPr>
          <p:cNvPr id="27" name="Text 21"/>
          <p:cNvSpPr/>
          <p:nvPr/>
        </p:nvSpPr>
        <p:spPr>
          <a:xfrm>
            <a:off x="4336640" y="4064937"/>
            <a:ext cx="2674867" cy="370830"/>
          </a:xfrm>
          <a:prstGeom prst="rect">
            <a:avLst/>
          </a:prstGeom>
          <a:noFill/>
          <a:ln w="12700">
            <a:solidFill>
              <a:srgbClr val="146049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600" b="1">
                <a:solidFill>
                  <a:srgbClr val="146049"/>
                </a:solidFill>
                <a:ea typeface="Archivo" pitchFamily="34" charset="-122"/>
                <a:cs typeface="Archivo" pitchFamily="34" charset="-120"/>
              </a:rPr>
              <a:t>Stability over 30 resamples</a:t>
            </a:r>
            <a:endParaRPr lang="en-US" sz="160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A7721E64-240B-1B7A-CA02-0AB874868104}"/>
              </a:ext>
            </a:extLst>
          </p:cNvPr>
          <p:cNvSpPr/>
          <p:nvPr/>
        </p:nvSpPr>
        <p:spPr>
          <a:xfrm>
            <a:off x="812800" y="894060"/>
            <a:ext cx="406400" cy="50800"/>
          </a:xfrm>
          <a:prstGeom prst="rect">
            <a:avLst/>
          </a:prstGeom>
          <a:solidFill>
            <a:srgbClr val="00A8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5CFD1048-1F32-3740-8960-D67974F6E310}"/>
              </a:ext>
            </a:extLst>
          </p:cNvPr>
          <p:cNvSpPr/>
          <p:nvPr/>
        </p:nvSpPr>
        <p:spPr>
          <a:xfrm>
            <a:off x="1381246" y="815340"/>
            <a:ext cx="3520261" cy="25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kern="0" spc="150"/>
              <a:t>ANALYSIS METHODS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604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8A8A8B-ABA3-1FF1-D93E-56E5C02ED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A65F7DE-23F5-E682-71F5-247682FF1179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00A85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46049"/>
              </a:solidFill>
              <a:effectLst/>
              <a:uLnTx/>
              <a:uFillTx/>
              <a:latin typeface="Archivo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320604B-6E81-7BC3-1D58-36782536EBDB}"/>
              </a:ext>
            </a:extLst>
          </p:cNvPr>
          <p:cNvSpPr/>
          <p:nvPr/>
        </p:nvSpPr>
        <p:spPr>
          <a:xfrm>
            <a:off x="812800" y="2329160"/>
            <a:ext cx="406400" cy="50800"/>
          </a:xfrm>
          <a:prstGeom prst="rect">
            <a:avLst/>
          </a:prstGeom>
          <a:solidFill>
            <a:srgbClr val="00A85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46049"/>
              </a:solidFill>
              <a:effectLst/>
              <a:uLnTx/>
              <a:uFillTx/>
              <a:latin typeface="Archivo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5D86866-5F75-2FBF-A55A-B37BEB3A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2715220"/>
            <a:ext cx="922245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400"/>
              </a:lnSpc>
            </a:pPr>
            <a:r>
              <a:rPr lang="en-US" sz="4000" b="1" i="0">
                <a:solidFill>
                  <a:srgbClr val="FFFFFF"/>
                </a:solidFill>
                <a:latin typeface="Archivo"/>
                <a:ea typeface="Archivo"/>
              </a:rPr>
              <a:t>Results</a:t>
            </a:r>
            <a:endParaRPr lang="en-US" sz="4000">
              <a:latin typeface="Archivo"/>
            </a:endParaRPr>
          </a:p>
        </p:txBody>
      </p:sp>
    </p:spTree>
    <p:extLst>
      <p:ext uri="{BB962C8B-B14F-4D97-AF65-F5344CB8AC3E}">
        <p14:creationId xmlns:p14="http://schemas.microsoft.com/office/powerpoint/2010/main" val="2905765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EDCF3F-7580-E588-7562-26361054A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AF8100-6B6B-C33E-A1A2-A55E261E7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341119"/>
            <a:ext cx="3631878" cy="45727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BF8E4C3-8236-F750-E3DE-338E2DD0C9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840" y="2207260"/>
            <a:ext cx="7037705" cy="2443480"/>
          </a:xfrm>
          <a:prstGeom prst="rect">
            <a:avLst/>
          </a:prstGeom>
        </p:spPr>
      </p:pic>
      <p:sp>
        <p:nvSpPr>
          <p:cNvPr id="6" name="Shape 0">
            <a:extLst>
              <a:ext uri="{FF2B5EF4-FFF2-40B4-BE49-F238E27FC236}">
                <a16:creationId xmlns:a16="http://schemas.microsoft.com/office/drawing/2014/main" id="{E38200D3-A5AB-7958-7847-6368E15E2B18}"/>
              </a:ext>
            </a:extLst>
          </p:cNvPr>
          <p:cNvSpPr/>
          <p:nvPr/>
        </p:nvSpPr>
        <p:spPr>
          <a:xfrm>
            <a:off x="812800" y="894060"/>
            <a:ext cx="406400" cy="50800"/>
          </a:xfrm>
          <a:prstGeom prst="rect">
            <a:avLst/>
          </a:prstGeom>
          <a:solidFill>
            <a:srgbClr val="00A8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5EE54B0B-5D1E-6909-7770-CDE728BF92B7}"/>
              </a:ext>
            </a:extLst>
          </p:cNvPr>
          <p:cNvSpPr/>
          <p:nvPr/>
        </p:nvSpPr>
        <p:spPr>
          <a:xfrm>
            <a:off x="1381246" y="815340"/>
            <a:ext cx="3520261" cy="25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kern="0" spc="150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18385435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356987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6049"/>
                </a:solidFill>
                <a:latin typeface="+mn-lt"/>
                <a:ea typeface="Archivo" pitchFamily="34" charset="-122"/>
                <a:cs typeface="Archivo" pitchFamily="34" charset="-120"/>
              </a:rPr>
              <a:t>No criterion wins </a:t>
            </a:r>
            <a:r>
              <a:rPr lang="en-US" b="1" dirty="0">
                <a:latin typeface="+mn-lt"/>
              </a:rPr>
              <a:t>everywhere on </a:t>
            </a:r>
            <a:r>
              <a:rPr lang="en-US" b="1" u="sng" dirty="0">
                <a:latin typeface="+mn-lt"/>
              </a:rPr>
              <a:t>accuracy</a:t>
            </a:r>
            <a:r>
              <a:rPr lang="en-US" b="1" dirty="0">
                <a:latin typeface="+mn-lt"/>
              </a:rPr>
              <a:t> alone</a:t>
            </a:r>
            <a:endParaRPr lang="en-US" sz="3200" u="sng" dirty="0">
              <a:latin typeface="+mn-lt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D504B36-39E9-6BD3-56BD-99B01C11F460}"/>
              </a:ext>
            </a:extLst>
          </p:cNvPr>
          <p:cNvGrpSpPr/>
          <p:nvPr/>
        </p:nvGrpSpPr>
        <p:grpSpPr>
          <a:xfrm>
            <a:off x="812800" y="2496643"/>
            <a:ext cx="9123680" cy="2705277"/>
            <a:chOff x="812800" y="1981150"/>
            <a:chExt cx="9314061" cy="2641551"/>
          </a:xfrm>
        </p:grpSpPr>
        <p:sp>
          <p:nvSpPr>
            <p:cNvPr id="5" name="Shape 3"/>
            <p:cNvSpPr/>
            <p:nvPr/>
          </p:nvSpPr>
          <p:spPr>
            <a:xfrm>
              <a:off x="812800" y="1995091"/>
              <a:ext cx="203200" cy="203200"/>
            </a:xfrm>
            <a:prstGeom prst="rect">
              <a:avLst/>
            </a:prstGeom>
            <a:solidFill>
              <a:srgbClr val="00A85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1092200" y="1981150"/>
              <a:ext cx="383917" cy="2565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820"/>
                </a:lnSpc>
                <a:buNone/>
              </a:pPr>
              <a:r>
                <a:rPr lang="en-US" sz="1300" b="1">
                  <a:solidFill>
                    <a:srgbClr val="17291F"/>
                  </a:solidFill>
                  <a:ea typeface="Archivo" pitchFamily="34" charset="-122"/>
                  <a:cs typeface="Archivo" pitchFamily="34" charset="-120"/>
                </a:rPr>
                <a:t>Gini</a:t>
              </a:r>
              <a:endParaRPr lang="en-US" sz="1300"/>
            </a:p>
          </p:txBody>
        </p:sp>
        <p:sp>
          <p:nvSpPr>
            <p:cNvPr id="7" name="Shape 5"/>
            <p:cNvSpPr/>
            <p:nvPr/>
          </p:nvSpPr>
          <p:spPr>
            <a:xfrm>
              <a:off x="1666131" y="1995091"/>
              <a:ext cx="203200" cy="203200"/>
            </a:xfrm>
            <a:prstGeom prst="rect">
              <a:avLst/>
            </a:prstGeom>
            <a:solidFill>
              <a:srgbClr val="146049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1945531" y="1981150"/>
              <a:ext cx="745986" cy="2565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820"/>
                </a:lnSpc>
                <a:buNone/>
              </a:pPr>
              <a:r>
                <a:rPr lang="en-US" sz="1300" b="1">
                  <a:solidFill>
                    <a:srgbClr val="17291F"/>
                  </a:solidFill>
                  <a:ea typeface="Archivo" pitchFamily="34" charset="-122"/>
                  <a:cs typeface="Archivo" pitchFamily="34" charset="-120"/>
                </a:rPr>
                <a:t>Entropy</a:t>
              </a:r>
              <a:endParaRPr lang="en-US" sz="1300"/>
            </a:p>
          </p:txBody>
        </p:sp>
        <p:sp>
          <p:nvSpPr>
            <p:cNvPr id="9" name="Text 7"/>
            <p:cNvSpPr/>
            <p:nvPr/>
          </p:nvSpPr>
          <p:spPr>
            <a:xfrm>
              <a:off x="812800" y="2612330"/>
              <a:ext cx="2223770" cy="292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500" b="1">
                  <a:solidFill>
                    <a:srgbClr val="17291F"/>
                  </a:solidFill>
                  <a:ea typeface="Archivo" pitchFamily="34" charset="-122"/>
                  <a:cs typeface="Archivo" pitchFamily="34" charset="-120"/>
                </a:rPr>
                <a:t>Breast cancer</a:t>
              </a:r>
              <a:endParaRPr lang="en-US" sz="1500"/>
            </a:p>
          </p:txBody>
        </p:sp>
        <p:sp>
          <p:nvSpPr>
            <p:cNvPr id="10" name="Shape 8"/>
            <p:cNvSpPr/>
            <p:nvPr/>
          </p:nvSpPr>
          <p:spPr>
            <a:xfrm>
              <a:off x="3225800" y="2466280"/>
              <a:ext cx="5905500" cy="254000"/>
            </a:xfrm>
            <a:prstGeom prst="rect">
              <a:avLst/>
            </a:prstGeom>
            <a:solidFill>
              <a:srgbClr val="00A85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9283700" y="2468811"/>
              <a:ext cx="628590" cy="2742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960"/>
                </a:lnSpc>
                <a:buNone/>
              </a:pPr>
              <a:r>
                <a:rPr lang="en-US" sz="1400">
                  <a:solidFill>
                    <a:srgbClr val="17291F"/>
                  </a:solidFill>
                  <a:ea typeface="Archivo" pitchFamily="34" charset="-122"/>
                  <a:cs typeface="Archivo" pitchFamily="34" charset="-120"/>
                </a:rPr>
                <a:t>93.0%</a:t>
              </a:r>
              <a:endParaRPr lang="en-US" sz="1400"/>
            </a:p>
          </p:txBody>
        </p:sp>
        <p:sp>
          <p:nvSpPr>
            <p:cNvPr id="12" name="Shape 10"/>
            <p:cNvSpPr/>
            <p:nvPr/>
          </p:nvSpPr>
          <p:spPr>
            <a:xfrm>
              <a:off x="3225800" y="2771080"/>
              <a:ext cx="6070600" cy="254000"/>
            </a:xfrm>
            <a:prstGeom prst="rect">
              <a:avLst/>
            </a:prstGeom>
            <a:solidFill>
              <a:srgbClr val="146049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9448800" y="2773611"/>
              <a:ext cx="678061" cy="2742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960"/>
                </a:lnSpc>
                <a:buNone/>
              </a:pPr>
              <a:r>
                <a:rPr lang="en-US" sz="1400" b="1" dirty="0">
                  <a:solidFill>
                    <a:srgbClr val="146049"/>
                  </a:solidFill>
                  <a:ea typeface="Archivo" pitchFamily="34" charset="-122"/>
                  <a:cs typeface="Archivo" pitchFamily="34" charset="-120"/>
                </a:rPr>
                <a:t>95.6%</a:t>
              </a:r>
              <a:endParaRPr lang="en-US" sz="14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812800" y="3399730"/>
              <a:ext cx="2223770" cy="292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500" b="1">
                  <a:solidFill>
                    <a:srgbClr val="17291F"/>
                  </a:solidFill>
                  <a:ea typeface="Archivo" pitchFamily="34" charset="-122"/>
                  <a:cs typeface="Archivo" pitchFamily="34" charset="-120"/>
                </a:rPr>
                <a:t>Heart disease</a:t>
              </a:r>
              <a:endParaRPr lang="en-US" sz="1500"/>
            </a:p>
          </p:txBody>
        </p:sp>
        <p:sp>
          <p:nvSpPr>
            <p:cNvPr id="15" name="Shape 13"/>
            <p:cNvSpPr/>
            <p:nvPr/>
          </p:nvSpPr>
          <p:spPr>
            <a:xfrm>
              <a:off x="3225800" y="3253680"/>
              <a:ext cx="4787900" cy="254000"/>
            </a:xfrm>
            <a:prstGeom prst="rect">
              <a:avLst/>
            </a:prstGeom>
            <a:solidFill>
              <a:srgbClr val="00A85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8166100" y="3256211"/>
              <a:ext cx="620197" cy="2742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960"/>
                </a:lnSpc>
                <a:buNone/>
              </a:pPr>
              <a:r>
                <a:rPr lang="en-US" sz="1400">
                  <a:solidFill>
                    <a:srgbClr val="17291F"/>
                  </a:solidFill>
                  <a:ea typeface="Archivo" pitchFamily="34" charset="-122"/>
                  <a:cs typeface="Archivo" pitchFamily="34" charset="-120"/>
                </a:rPr>
                <a:t>75.4%</a:t>
              </a:r>
              <a:endParaRPr lang="en-US" sz="1400"/>
            </a:p>
          </p:txBody>
        </p:sp>
        <p:sp>
          <p:nvSpPr>
            <p:cNvPr id="17" name="Shape 15"/>
            <p:cNvSpPr/>
            <p:nvPr/>
          </p:nvSpPr>
          <p:spPr>
            <a:xfrm>
              <a:off x="3225800" y="3558480"/>
              <a:ext cx="4889500" cy="254000"/>
            </a:xfrm>
            <a:prstGeom prst="rect">
              <a:avLst/>
            </a:prstGeom>
            <a:solidFill>
              <a:srgbClr val="146049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8267700" y="3561011"/>
              <a:ext cx="650438" cy="2742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960"/>
                </a:lnSpc>
                <a:buNone/>
              </a:pPr>
              <a:r>
                <a:rPr lang="en-US" sz="1400" b="1">
                  <a:solidFill>
                    <a:srgbClr val="146049"/>
                  </a:solidFill>
                  <a:ea typeface="Archivo" pitchFamily="34" charset="-122"/>
                  <a:cs typeface="Archivo" pitchFamily="34" charset="-120"/>
                </a:rPr>
                <a:t>77.0%</a:t>
              </a:r>
              <a:endParaRPr lang="en-US" sz="1400"/>
            </a:p>
          </p:txBody>
        </p:sp>
        <p:sp>
          <p:nvSpPr>
            <p:cNvPr id="19" name="Text 17"/>
            <p:cNvSpPr/>
            <p:nvPr/>
          </p:nvSpPr>
          <p:spPr>
            <a:xfrm>
              <a:off x="812800" y="4187130"/>
              <a:ext cx="2223770" cy="292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500" b="1">
                  <a:solidFill>
                    <a:srgbClr val="17291F"/>
                  </a:solidFill>
                  <a:ea typeface="Archivo" pitchFamily="34" charset="-122"/>
                  <a:cs typeface="Archivo" pitchFamily="34" charset="-120"/>
                </a:rPr>
                <a:t>Heart failure</a:t>
              </a:r>
              <a:endParaRPr lang="en-US" sz="1500"/>
            </a:p>
          </p:txBody>
        </p:sp>
        <p:sp>
          <p:nvSpPr>
            <p:cNvPr id="20" name="Shape 18"/>
            <p:cNvSpPr/>
            <p:nvPr/>
          </p:nvSpPr>
          <p:spPr>
            <a:xfrm>
              <a:off x="3225800" y="4041080"/>
              <a:ext cx="4552950" cy="254000"/>
            </a:xfrm>
            <a:prstGeom prst="rect">
              <a:avLst/>
            </a:prstGeom>
            <a:solidFill>
              <a:srgbClr val="00A85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7931150" y="4043611"/>
              <a:ext cx="678240" cy="2742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960"/>
                </a:lnSpc>
                <a:buNone/>
              </a:pPr>
              <a:r>
                <a:rPr lang="en-US" sz="1400" b="1">
                  <a:solidFill>
                    <a:srgbClr val="146049"/>
                  </a:solidFill>
                  <a:ea typeface="Archivo" pitchFamily="34" charset="-122"/>
                  <a:cs typeface="Archivo" pitchFamily="34" charset="-120"/>
                </a:rPr>
                <a:t>71.7%</a:t>
              </a:r>
              <a:endParaRPr lang="en-US" sz="1400"/>
            </a:p>
          </p:txBody>
        </p:sp>
        <p:sp>
          <p:nvSpPr>
            <p:cNvPr id="22" name="Shape 20"/>
            <p:cNvSpPr/>
            <p:nvPr/>
          </p:nvSpPr>
          <p:spPr>
            <a:xfrm>
              <a:off x="3225800" y="4345880"/>
              <a:ext cx="3810000" cy="254000"/>
            </a:xfrm>
            <a:prstGeom prst="rect">
              <a:avLst/>
            </a:prstGeom>
            <a:solidFill>
              <a:srgbClr val="146049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21"/>
            <p:cNvSpPr/>
            <p:nvPr/>
          </p:nvSpPr>
          <p:spPr>
            <a:xfrm>
              <a:off x="7188200" y="4348411"/>
              <a:ext cx="628590" cy="2742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960"/>
                </a:lnSpc>
                <a:buNone/>
              </a:pPr>
              <a:r>
                <a:rPr lang="en-US" sz="1400">
                  <a:solidFill>
                    <a:srgbClr val="17291F"/>
                  </a:solidFill>
                  <a:ea typeface="Archivo" pitchFamily="34" charset="-122"/>
                  <a:cs typeface="Archivo" pitchFamily="34" charset="-120"/>
                </a:rPr>
                <a:t>60.0%</a:t>
              </a:r>
              <a:endParaRPr lang="en-US" sz="1400"/>
            </a:p>
          </p:txBody>
        </p:sp>
      </p:grpSp>
      <p:sp>
        <p:nvSpPr>
          <p:cNvPr id="24" name="Text 1">
            <a:extLst>
              <a:ext uri="{FF2B5EF4-FFF2-40B4-BE49-F238E27FC236}">
                <a16:creationId xmlns:a16="http://schemas.microsoft.com/office/drawing/2014/main" id="{B0135161-B7AC-D9C0-E042-33FDB021C439}"/>
              </a:ext>
            </a:extLst>
          </p:cNvPr>
          <p:cNvSpPr/>
          <p:nvPr/>
        </p:nvSpPr>
        <p:spPr>
          <a:xfrm>
            <a:off x="812800" y="1926815"/>
            <a:ext cx="6595975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2000" dirty="0"/>
              <a:t>This backs up what we discovered in our initial research</a:t>
            </a:r>
          </a:p>
        </p:txBody>
      </p:sp>
      <p:sp>
        <p:nvSpPr>
          <p:cNvPr id="27" name="Shape 0">
            <a:extLst>
              <a:ext uri="{FF2B5EF4-FFF2-40B4-BE49-F238E27FC236}">
                <a16:creationId xmlns:a16="http://schemas.microsoft.com/office/drawing/2014/main" id="{AE31962D-5C46-085B-B58E-1DA4638A6A41}"/>
              </a:ext>
            </a:extLst>
          </p:cNvPr>
          <p:cNvSpPr/>
          <p:nvPr/>
        </p:nvSpPr>
        <p:spPr>
          <a:xfrm>
            <a:off x="812800" y="894060"/>
            <a:ext cx="406400" cy="50800"/>
          </a:xfrm>
          <a:prstGeom prst="rect">
            <a:avLst/>
          </a:prstGeom>
          <a:solidFill>
            <a:srgbClr val="00A8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8DE2C847-9BC3-7276-2674-711C1C400B9F}"/>
              </a:ext>
            </a:extLst>
          </p:cNvPr>
          <p:cNvSpPr/>
          <p:nvPr/>
        </p:nvSpPr>
        <p:spPr>
          <a:xfrm>
            <a:off x="1381246" y="815340"/>
            <a:ext cx="3520261" cy="25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kern="0" spc="150" dirty="0"/>
              <a:t>RESULTS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696D6B9-5D4A-27C4-6CD1-0978736E7C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4704"/>
          <a:stretch>
            <a:fillRect/>
          </a:stretch>
        </p:blipFill>
        <p:spPr>
          <a:xfrm>
            <a:off x="2373114" y="5669027"/>
            <a:ext cx="7037705" cy="61809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549338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6049"/>
                </a:solidFill>
                <a:latin typeface="+mn-lt"/>
                <a:ea typeface="Archivo" pitchFamily="34" charset="-122"/>
                <a:cs typeface="Archivo" pitchFamily="34" charset="-120"/>
              </a:rPr>
              <a:t>Tree size only differed on one dataset</a:t>
            </a:r>
            <a:endParaRPr lang="en-US" sz="3200" dirty="0">
              <a:latin typeface="+mn-l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12800" y="2407828"/>
            <a:ext cx="3386634" cy="2153841"/>
          </a:xfrm>
          <a:prstGeom prst="rect">
            <a:avLst/>
          </a:prstGeom>
          <a:solidFill>
            <a:srgbClr val="1460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66800" y="2661828"/>
            <a:ext cx="296499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>
                <a:solidFill>
                  <a:srgbClr val="FFFFFF"/>
                </a:solidFill>
                <a:ea typeface="Archivo" pitchFamily="34" charset="-122"/>
                <a:cs typeface="Archivo" pitchFamily="34" charset="-120"/>
              </a:rPr>
              <a:t>Breast cancer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1066800" y="3058058"/>
            <a:ext cx="91541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>
                <a:solidFill>
                  <a:srgbClr val="FFFFFF"/>
                </a:solidFill>
                <a:ea typeface="Archivo" pitchFamily="34" charset="-122"/>
                <a:cs typeface="Archivo" pitchFamily="34" charset="-120"/>
              </a:rPr>
              <a:t>47</a:t>
            </a:r>
            <a:endParaRPr lang="en-US" sz="4800"/>
          </a:p>
        </p:txBody>
      </p:sp>
      <p:sp>
        <p:nvSpPr>
          <p:cNvPr id="8" name="Text 6"/>
          <p:cNvSpPr/>
          <p:nvPr/>
        </p:nvSpPr>
        <p:spPr>
          <a:xfrm>
            <a:off x="1066800" y="3693058"/>
            <a:ext cx="8136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D6EBE0"/>
                </a:solidFill>
                <a:ea typeface="Archivo" pitchFamily="34" charset="-122"/>
                <a:cs typeface="Archivo" pitchFamily="34" charset="-120"/>
              </a:rPr>
              <a:t>Gini nodes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2134443" y="3058058"/>
            <a:ext cx="103564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>
                <a:solidFill>
                  <a:srgbClr val="8FD9B0"/>
                </a:solidFill>
                <a:ea typeface="Archivo" pitchFamily="34" charset="-122"/>
                <a:cs typeface="Archivo" pitchFamily="34" charset="-120"/>
              </a:rPr>
              <a:t>33</a:t>
            </a:r>
            <a:endParaRPr lang="en-US" sz="4800"/>
          </a:p>
        </p:txBody>
      </p:sp>
      <p:sp>
        <p:nvSpPr>
          <p:cNvPr id="10" name="Text 8"/>
          <p:cNvSpPr/>
          <p:nvPr/>
        </p:nvSpPr>
        <p:spPr>
          <a:xfrm>
            <a:off x="2134443" y="3693058"/>
            <a:ext cx="11818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D6EBE0"/>
                </a:solidFill>
                <a:ea typeface="Archivo" pitchFamily="34" charset="-122"/>
                <a:cs typeface="Archivo" pitchFamily="34" charset="-120"/>
              </a:rPr>
              <a:t>Entropy nodes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1066800" y="4058779"/>
            <a:ext cx="296499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>
                <a:solidFill>
                  <a:srgbClr val="8FD9B0"/>
                </a:solidFill>
                <a:ea typeface="Archivo" pitchFamily="34" charset="-122"/>
                <a:cs typeface="Archivo" pitchFamily="34" charset="-120"/>
              </a:rPr>
              <a:t>Entropy ~30% smaller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4402634" y="2407828"/>
            <a:ext cx="3386683" cy="2153841"/>
          </a:xfrm>
          <a:prstGeom prst="rect">
            <a:avLst/>
          </a:prstGeom>
          <a:solidFill>
            <a:srgbClr val="F4F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56634" y="2661828"/>
            <a:ext cx="296504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>
                <a:solidFill>
                  <a:srgbClr val="146049"/>
                </a:solidFill>
                <a:ea typeface="Archivo" pitchFamily="34" charset="-122"/>
                <a:cs typeface="Archivo" pitchFamily="34" charset="-120"/>
              </a:rPr>
              <a:t>Heart disease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4656634" y="3058058"/>
            <a:ext cx="914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>
                <a:solidFill>
                  <a:srgbClr val="146049"/>
                </a:solidFill>
                <a:ea typeface="Archivo" pitchFamily="34" charset="-122"/>
                <a:cs typeface="Archivo" pitchFamily="34" charset="-120"/>
              </a:rPr>
              <a:t>95</a:t>
            </a:r>
            <a:endParaRPr lang="en-US" sz="4800"/>
          </a:p>
        </p:txBody>
      </p:sp>
      <p:sp>
        <p:nvSpPr>
          <p:cNvPr id="15" name="Text 13"/>
          <p:cNvSpPr/>
          <p:nvPr/>
        </p:nvSpPr>
        <p:spPr>
          <a:xfrm>
            <a:off x="4656634" y="3693058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2665D"/>
                </a:solidFill>
                <a:ea typeface="Archivo" pitchFamily="34" charset="-122"/>
                <a:cs typeface="Archivo" pitchFamily="34" charset="-120"/>
              </a:rPr>
              <a:t>Gini nodes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5723434" y="3058058"/>
            <a:ext cx="103564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>
                <a:solidFill>
                  <a:srgbClr val="146049"/>
                </a:solidFill>
                <a:ea typeface="Archivo" pitchFamily="34" charset="-122"/>
                <a:cs typeface="Archivo" pitchFamily="34" charset="-120"/>
              </a:rPr>
              <a:t>95</a:t>
            </a:r>
            <a:endParaRPr lang="en-US" sz="4800"/>
          </a:p>
        </p:txBody>
      </p:sp>
      <p:sp>
        <p:nvSpPr>
          <p:cNvPr id="17" name="Text 15"/>
          <p:cNvSpPr/>
          <p:nvPr/>
        </p:nvSpPr>
        <p:spPr>
          <a:xfrm>
            <a:off x="5723434" y="3693058"/>
            <a:ext cx="11818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2665D"/>
                </a:solidFill>
                <a:ea typeface="Archivo" pitchFamily="34" charset="-122"/>
                <a:cs typeface="Archivo" pitchFamily="34" charset="-120"/>
              </a:rPr>
              <a:t>Entropy nodes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4656634" y="4058779"/>
            <a:ext cx="296504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>
                <a:solidFill>
                  <a:srgbClr val="52665D"/>
                </a:solidFill>
                <a:ea typeface="Archivo" pitchFamily="34" charset="-122"/>
                <a:cs typeface="Archivo" pitchFamily="34" charset="-120"/>
              </a:rPr>
              <a:t>Same size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7992517" y="2407828"/>
            <a:ext cx="3386683" cy="2153841"/>
          </a:xfrm>
          <a:prstGeom prst="rect">
            <a:avLst/>
          </a:prstGeom>
          <a:solidFill>
            <a:srgbClr val="F4F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46517" y="2661828"/>
            <a:ext cx="296504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>
                <a:solidFill>
                  <a:srgbClr val="146049"/>
                </a:solidFill>
                <a:ea typeface="Archivo" pitchFamily="34" charset="-122"/>
                <a:cs typeface="Archivo" pitchFamily="34" charset="-120"/>
              </a:rPr>
              <a:t>Heart failure</a:t>
            </a:r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8246517" y="3058058"/>
            <a:ext cx="137231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>
                <a:solidFill>
                  <a:srgbClr val="146049"/>
                </a:solidFill>
                <a:ea typeface="Archivo" pitchFamily="34" charset="-122"/>
                <a:cs typeface="Archivo" pitchFamily="34" charset="-120"/>
              </a:rPr>
              <a:t>101</a:t>
            </a:r>
            <a:endParaRPr lang="en-US" sz="4800"/>
          </a:p>
        </p:txBody>
      </p:sp>
      <p:sp>
        <p:nvSpPr>
          <p:cNvPr id="22" name="Text 20"/>
          <p:cNvSpPr/>
          <p:nvPr/>
        </p:nvSpPr>
        <p:spPr>
          <a:xfrm>
            <a:off x="8246517" y="3693058"/>
            <a:ext cx="119439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2665D"/>
                </a:solidFill>
                <a:ea typeface="Archivo" pitchFamily="34" charset="-122"/>
                <a:cs typeface="Archivo" pitchFamily="34" charset="-120"/>
              </a:rPr>
              <a:t>Gini nodes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9694912" y="3058058"/>
            <a:ext cx="103564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>
                <a:solidFill>
                  <a:srgbClr val="146049"/>
                </a:solidFill>
                <a:ea typeface="Archivo" pitchFamily="34" charset="-122"/>
                <a:cs typeface="Archivo" pitchFamily="34" charset="-120"/>
              </a:rPr>
              <a:t>99</a:t>
            </a:r>
            <a:endParaRPr lang="en-US" sz="4800"/>
          </a:p>
        </p:txBody>
      </p:sp>
      <p:sp>
        <p:nvSpPr>
          <p:cNvPr id="24" name="Text 22"/>
          <p:cNvSpPr/>
          <p:nvPr/>
        </p:nvSpPr>
        <p:spPr>
          <a:xfrm>
            <a:off x="9694912" y="3693058"/>
            <a:ext cx="11818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2665D"/>
                </a:solidFill>
                <a:ea typeface="Archivo" pitchFamily="34" charset="-122"/>
                <a:cs typeface="Archivo" pitchFamily="34" charset="-120"/>
              </a:rPr>
              <a:t>Entropy nodes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8246517" y="4058779"/>
            <a:ext cx="296504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>
                <a:solidFill>
                  <a:srgbClr val="52665D"/>
                </a:solidFill>
                <a:ea typeface="Archivo" pitchFamily="34" charset="-122"/>
                <a:cs typeface="Archivo" pitchFamily="34" charset="-120"/>
              </a:rPr>
              <a:t>Near identical</a:t>
            </a:r>
            <a:endParaRPr lang="en-US" sz="140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D4040FCB-B94A-E8A3-992A-7304E90C0F66}"/>
              </a:ext>
            </a:extLst>
          </p:cNvPr>
          <p:cNvSpPr/>
          <p:nvPr/>
        </p:nvSpPr>
        <p:spPr>
          <a:xfrm>
            <a:off x="812800" y="894060"/>
            <a:ext cx="406400" cy="50800"/>
          </a:xfrm>
          <a:prstGeom prst="rect">
            <a:avLst/>
          </a:prstGeom>
          <a:solidFill>
            <a:srgbClr val="00A8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86228C56-2988-B2F3-61F1-496CA2B8FE7F}"/>
              </a:ext>
            </a:extLst>
          </p:cNvPr>
          <p:cNvSpPr/>
          <p:nvPr/>
        </p:nvSpPr>
        <p:spPr>
          <a:xfrm>
            <a:off x="1381246" y="815340"/>
            <a:ext cx="3520261" cy="25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kern="0" spc="150" dirty="0"/>
              <a:t>RESULTS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0AF2540-B73C-0BCE-38F4-7BE0E6365AC6}"/>
              </a:ext>
            </a:extLst>
          </p:cNvPr>
          <p:cNvGrpSpPr/>
          <p:nvPr/>
        </p:nvGrpSpPr>
        <p:grpSpPr>
          <a:xfrm>
            <a:off x="1568123" y="5594506"/>
            <a:ext cx="8310622" cy="896307"/>
            <a:chOff x="4603839" y="2207260"/>
            <a:chExt cx="7037706" cy="759022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1241B10E-8A5A-491E-296C-AFF35F034B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80666"/>
            <a:stretch>
              <a:fillRect/>
            </a:stretch>
          </p:blipFill>
          <p:spPr>
            <a:xfrm>
              <a:off x="4603840" y="2207260"/>
              <a:ext cx="7037705" cy="472430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26807F7C-119A-6E02-E924-07C41F8837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9651" b="58620"/>
            <a:stretch>
              <a:fillRect/>
            </a:stretch>
          </p:blipFill>
          <p:spPr>
            <a:xfrm>
              <a:off x="4603839" y="2679690"/>
              <a:ext cx="7037705" cy="28659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>
                <a:solidFill>
                  <a:srgbClr val="146049"/>
                </a:solidFill>
                <a:latin typeface="+mn-lt"/>
                <a:ea typeface="Archivo" pitchFamily="34" charset="-122"/>
                <a:cs typeface="Archivo" pitchFamily="34" charset="-120"/>
              </a:rPr>
              <a:t>Stability depends on the dataset, not the criterion</a:t>
            </a:r>
            <a:endParaRPr lang="en-US" sz="3200">
              <a:latin typeface="+mn-l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12800" y="1995091"/>
            <a:ext cx="203200" cy="203200"/>
          </a:xfrm>
          <a:prstGeom prst="rect">
            <a:avLst/>
          </a:prstGeom>
          <a:solidFill>
            <a:srgbClr val="00A8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2200" y="1981150"/>
            <a:ext cx="38391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>
                <a:solidFill>
                  <a:srgbClr val="17291F"/>
                </a:solidFill>
                <a:ea typeface="Archivo" pitchFamily="34" charset="-122"/>
                <a:cs typeface="Archivo" pitchFamily="34" charset="-120"/>
              </a:rPr>
              <a:t>Gini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1666131" y="1995091"/>
            <a:ext cx="203200" cy="203200"/>
          </a:xfrm>
          <a:prstGeom prst="rect">
            <a:avLst/>
          </a:prstGeom>
          <a:solidFill>
            <a:srgbClr val="1460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945531" y="1981150"/>
            <a:ext cx="74598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>
                <a:solidFill>
                  <a:srgbClr val="17291F"/>
                </a:solidFill>
                <a:ea typeface="Archivo" pitchFamily="34" charset="-122"/>
                <a:cs typeface="Archivo" pitchFamily="34" charset="-120"/>
              </a:rPr>
              <a:t>Entropy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2821186" y="1981150"/>
            <a:ext cx="445805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52665D"/>
                </a:solidFill>
                <a:ea typeface="Archivo" pitchFamily="34" charset="-122"/>
                <a:cs typeface="Archivo" pitchFamily="34" charset="-120"/>
              </a:rPr>
              <a:t>Kendall's τ of feature rankings, higher = more stable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812800" y="2612330"/>
            <a:ext cx="22237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>
                <a:solidFill>
                  <a:srgbClr val="17291F"/>
                </a:solidFill>
                <a:ea typeface="Archivo" pitchFamily="34" charset="-122"/>
                <a:cs typeface="Archivo" pitchFamily="34" charset="-120"/>
              </a:rPr>
              <a:t>Breast cancer</a:t>
            </a:r>
            <a:endParaRPr lang="en-US" sz="1500"/>
          </a:p>
        </p:txBody>
      </p:sp>
      <p:sp>
        <p:nvSpPr>
          <p:cNvPr id="11" name="Shape 9"/>
          <p:cNvSpPr/>
          <p:nvPr/>
        </p:nvSpPr>
        <p:spPr>
          <a:xfrm>
            <a:off x="3225800" y="2466280"/>
            <a:ext cx="2349500" cy="254000"/>
          </a:xfrm>
          <a:prstGeom prst="rect">
            <a:avLst/>
          </a:prstGeom>
          <a:solidFill>
            <a:srgbClr val="00A8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27700" y="2468811"/>
            <a:ext cx="42154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17291F"/>
                </a:solidFill>
                <a:ea typeface="Archivo" pitchFamily="34" charset="-122"/>
                <a:cs typeface="Archivo" pitchFamily="34" charset="-120"/>
              </a:rPr>
              <a:t>0.37</a:t>
            </a:r>
            <a:endParaRPr lang="en-US" sz="1400"/>
          </a:p>
        </p:txBody>
      </p:sp>
      <p:sp>
        <p:nvSpPr>
          <p:cNvPr id="13" name="Shape 11"/>
          <p:cNvSpPr/>
          <p:nvPr/>
        </p:nvSpPr>
        <p:spPr>
          <a:xfrm>
            <a:off x="3225800" y="2771080"/>
            <a:ext cx="1981200" cy="254000"/>
          </a:xfrm>
          <a:prstGeom prst="rect">
            <a:avLst/>
          </a:prstGeom>
          <a:solidFill>
            <a:srgbClr val="1460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59400" y="2773611"/>
            <a:ext cx="41487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17291F"/>
                </a:solidFill>
                <a:ea typeface="Archivo" pitchFamily="34" charset="-122"/>
                <a:cs typeface="Archivo" pitchFamily="34" charset="-120"/>
              </a:rPr>
              <a:t>0.31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812800" y="3374330"/>
            <a:ext cx="22237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>
                <a:solidFill>
                  <a:srgbClr val="17291F"/>
                </a:solidFill>
                <a:ea typeface="Archivo" pitchFamily="34" charset="-122"/>
                <a:cs typeface="Archivo" pitchFamily="34" charset="-120"/>
              </a:rPr>
              <a:t>Heart disease</a:t>
            </a:r>
            <a:endParaRPr lang="en-US" sz="1500"/>
          </a:p>
        </p:txBody>
      </p:sp>
      <p:sp>
        <p:nvSpPr>
          <p:cNvPr id="16" name="Shape 14"/>
          <p:cNvSpPr/>
          <p:nvPr/>
        </p:nvSpPr>
        <p:spPr>
          <a:xfrm>
            <a:off x="3225800" y="3228280"/>
            <a:ext cx="3422650" cy="254000"/>
          </a:xfrm>
          <a:prstGeom prst="rect">
            <a:avLst/>
          </a:prstGeom>
          <a:solidFill>
            <a:srgbClr val="00A8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00850" y="3230811"/>
            <a:ext cx="42171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17291F"/>
                </a:solidFill>
                <a:ea typeface="Archivo" pitchFamily="34" charset="-122"/>
                <a:cs typeface="Archivo" pitchFamily="34" charset="-120"/>
              </a:rPr>
              <a:t>0.54</a:t>
            </a:r>
            <a:endParaRPr lang="en-US" sz="1400"/>
          </a:p>
        </p:txBody>
      </p:sp>
      <p:sp>
        <p:nvSpPr>
          <p:cNvPr id="18" name="Shape 16"/>
          <p:cNvSpPr/>
          <p:nvPr/>
        </p:nvSpPr>
        <p:spPr>
          <a:xfrm>
            <a:off x="3225800" y="3533080"/>
            <a:ext cx="3486150" cy="254000"/>
          </a:xfrm>
          <a:prstGeom prst="rect">
            <a:avLst/>
          </a:prstGeom>
          <a:solidFill>
            <a:srgbClr val="1460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64350" y="3535611"/>
            <a:ext cx="42511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17291F"/>
                </a:solidFill>
                <a:ea typeface="Archivo" pitchFamily="34" charset="-122"/>
                <a:cs typeface="Archivo" pitchFamily="34" charset="-120"/>
              </a:rPr>
              <a:t>0.55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812800" y="4136330"/>
            <a:ext cx="22237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>
                <a:solidFill>
                  <a:srgbClr val="17291F"/>
                </a:solidFill>
                <a:ea typeface="Archivo" pitchFamily="34" charset="-122"/>
                <a:cs typeface="Archivo" pitchFamily="34" charset="-120"/>
              </a:rPr>
              <a:t>Heart failure</a:t>
            </a:r>
            <a:endParaRPr lang="en-US" sz="1500"/>
          </a:p>
        </p:txBody>
      </p:sp>
      <p:sp>
        <p:nvSpPr>
          <p:cNvPr id="21" name="Shape 19"/>
          <p:cNvSpPr/>
          <p:nvPr/>
        </p:nvSpPr>
        <p:spPr>
          <a:xfrm>
            <a:off x="3225800" y="3990280"/>
            <a:ext cx="4089400" cy="254000"/>
          </a:xfrm>
          <a:prstGeom prst="rect">
            <a:avLst/>
          </a:prstGeom>
          <a:solidFill>
            <a:srgbClr val="00A8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67600" y="3992811"/>
            <a:ext cx="42213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17291F"/>
                </a:solidFill>
                <a:ea typeface="Archivo" pitchFamily="34" charset="-122"/>
                <a:cs typeface="Archivo" pitchFamily="34" charset="-120"/>
              </a:rPr>
              <a:t>0.64</a:t>
            </a:r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3225800" y="4295080"/>
            <a:ext cx="3905250" cy="254000"/>
          </a:xfrm>
          <a:prstGeom prst="rect">
            <a:avLst/>
          </a:prstGeom>
          <a:solidFill>
            <a:srgbClr val="1460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283450" y="4297611"/>
            <a:ext cx="4246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17291F"/>
                </a:solidFill>
                <a:ea typeface="Archivo" pitchFamily="34" charset="-122"/>
                <a:cs typeface="Archivo" pitchFamily="34" charset="-120"/>
              </a:rPr>
              <a:t>0.62</a:t>
            </a:r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812800" y="4803080"/>
            <a:ext cx="2681436" cy="469900"/>
          </a:xfrm>
          <a:prstGeom prst="rect">
            <a:avLst/>
          </a:prstGeom>
          <a:solidFill>
            <a:srgbClr val="E6F4E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>
                <a:solidFill>
                  <a:srgbClr val="17291F"/>
                </a:solidFill>
                <a:ea typeface="Archivo" pitchFamily="34" charset="-122"/>
                <a:cs typeface="Archivo" pitchFamily="34" charset="-120"/>
              </a:rPr>
              <a:t>≤ 0.06</a:t>
            </a:r>
            <a:r>
              <a:rPr lang="en-US" sz="1500">
                <a:solidFill>
                  <a:srgbClr val="17291F"/>
                </a:solidFill>
                <a:ea typeface="Archivo" pitchFamily="34" charset="-122"/>
                <a:cs typeface="Archivo" pitchFamily="34" charset="-120"/>
              </a:rPr>
              <a:t> gap between criteria</a:t>
            </a:r>
            <a:endParaRPr lang="en-US" sz="1500"/>
          </a:p>
        </p:txBody>
      </p:sp>
      <p:sp>
        <p:nvSpPr>
          <p:cNvPr id="26" name="Text 24"/>
          <p:cNvSpPr/>
          <p:nvPr/>
        </p:nvSpPr>
        <p:spPr>
          <a:xfrm>
            <a:off x="3646636" y="4803080"/>
            <a:ext cx="2691209" cy="469900"/>
          </a:xfrm>
          <a:prstGeom prst="rect">
            <a:avLst/>
          </a:prstGeom>
          <a:solidFill>
            <a:srgbClr val="14604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>
                <a:solidFill>
                  <a:srgbClr val="FFFFFF"/>
                </a:solidFill>
                <a:ea typeface="Archivo" pitchFamily="34" charset="-122"/>
                <a:cs typeface="Archivo" pitchFamily="34" charset="-120"/>
              </a:rPr>
              <a:t>0.33</a:t>
            </a:r>
            <a:r>
              <a:rPr lang="en-US" sz="1500">
                <a:solidFill>
                  <a:srgbClr val="FFFFFF"/>
                </a:solidFill>
                <a:ea typeface="Archivo" pitchFamily="34" charset="-122"/>
                <a:cs typeface="Archivo" pitchFamily="34" charset="-120"/>
              </a:rPr>
              <a:t> gap between datasets</a:t>
            </a:r>
            <a:endParaRPr lang="en-US" sz="150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DDC0F049-50C6-2473-B9D4-2D756D20409D}"/>
              </a:ext>
            </a:extLst>
          </p:cNvPr>
          <p:cNvSpPr/>
          <p:nvPr/>
        </p:nvSpPr>
        <p:spPr>
          <a:xfrm>
            <a:off x="812800" y="894060"/>
            <a:ext cx="406400" cy="50800"/>
          </a:xfrm>
          <a:prstGeom prst="rect">
            <a:avLst/>
          </a:prstGeom>
          <a:solidFill>
            <a:srgbClr val="00A8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6820EEAE-641A-5B52-F54D-A28DB38E04F7}"/>
              </a:ext>
            </a:extLst>
          </p:cNvPr>
          <p:cNvSpPr/>
          <p:nvPr/>
        </p:nvSpPr>
        <p:spPr>
          <a:xfrm>
            <a:off x="1381246" y="815340"/>
            <a:ext cx="3520261" cy="25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kern="0" spc="150" dirty="0"/>
              <a:t>RESULTS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3309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6049"/>
                </a:solidFill>
                <a:latin typeface="+mn-lt"/>
                <a:ea typeface="Archivo" pitchFamily="34" charset="-122"/>
                <a:cs typeface="Archivo" pitchFamily="34" charset="-120"/>
              </a:rPr>
              <a:t>Hypotheses: early verdict from only 3 datasets</a:t>
            </a:r>
            <a:endParaRPr lang="en-US" sz="3200" dirty="0">
              <a:latin typeface="+mn-l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12800" y="2082750"/>
            <a:ext cx="5181600" cy="1450280"/>
          </a:xfrm>
          <a:prstGeom prst="rect">
            <a:avLst/>
          </a:prstGeom>
          <a:solidFill>
            <a:srgbClr val="1460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66800" y="2336750"/>
            <a:ext cx="516434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>
                <a:solidFill>
                  <a:srgbClr val="8FD9B0"/>
                </a:solidFill>
                <a:ea typeface="Archivo" pitchFamily="34" charset="-122"/>
                <a:cs typeface="Archivo" pitchFamily="34" charset="-120"/>
              </a:rPr>
              <a:t>H0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1649561" y="2407841"/>
            <a:ext cx="188630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FFFFFF"/>
                </a:solidFill>
                <a:ea typeface="Archivo" pitchFamily="34" charset="-122"/>
                <a:cs typeface="Archivo" pitchFamily="34" charset="-120"/>
              </a:rPr>
              <a:t>No real difference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1066800" y="2890441"/>
            <a:ext cx="4673600" cy="350490"/>
          </a:xfrm>
          <a:prstGeom prst="rect">
            <a:avLst/>
          </a:prstGeom>
          <a:solidFill>
            <a:srgbClr val="8FD9B0"/>
          </a:solidFill>
          <a:ln/>
        </p:spPr>
        <p:txBody>
          <a:bodyPr wrap="square" lIns="127000" tIns="50800" rIns="0" bIns="2540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>
                <a:solidFill>
                  <a:srgbClr val="146049"/>
                </a:solidFill>
                <a:ea typeface="Archivo" pitchFamily="34" charset="-122"/>
                <a:cs typeface="Archivo" pitchFamily="34" charset="-120"/>
              </a:rPr>
              <a:t>Leaning yes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6200775" y="2085925"/>
            <a:ext cx="5175250" cy="1443930"/>
          </a:xfrm>
          <a:prstGeom prst="rect">
            <a:avLst/>
          </a:prstGeom>
          <a:solidFill>
            <a:srgbClr val="F4F7F5"/>
          </a:solidFill>
          <a:ln w="6350">
            <a:solidFill>
              <a:srgbClr val="D3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57950" y="2343100"/>
            <a:ext cx="516612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>
                <a:solidFill>
                  <a:srgbClr val="146049"/>
                </a:solidFill>
                <a:ea typeface="Archivo" pitchFamily="34" charset="-122"/>
                <a:cs typeface="Archivo" pitchFamily="34" charset="-120"/>
              </a:rPr>
              <a:t>H1</a:t>
            </a:r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7040860" y="2414191"/>
            <a:ext cx="259788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17291F"/>
                </a:solidFill>
                <a:ea typeface="Archivo" pitchFamily="34" charset="-122"/>
                <a:cs typeface="Archivo" pitchFamily="34" charset="-120"/>
              </a:rPr>
              <a:t>Gini: simpler, less stable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6464300" y="2903141"/>
            <a:ext cx="4648200" cy="363190"/>
          </a:xfrm>
          <a:prstGeom prst="rect">
            <a:avLst/>
          </a:prstGeom>
          <a:noFill/>
          <a:ln w="12700">
            <a:solidFill>
              <a:srgbClr val="52665D"/>
            </a:solidFill>
            <a:prstDash val="solid"/>
          </a:ln>
        </p:spPr>
        <p:txBody>
          <a:bodyPr wrap="square" lIns="133350" tIns="57150" rIns="1905" bIns="3175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>
                <a:solidFill>
                  <a:srgbClr val="52665D"/>
                </a:solidFill>
                <a:ea typeface="Archivo" pitchFamily="34" charset="-122"/>
                <a:cs typeface="Archivo" pitchFamily="34" charset="-120"/>
              </a:rPr>
              <a:t>Not supported</a:t>
            </a:r>
            <a:endParaRPr lang="en-US" sz="1400"/>
          </a:p>
        </p:txBody>
      </p:sp>
      <p:sp>
        <p:nvSpPr>
          <p:cNvPr id="13" name="Shape 11"/>
          <p:cNvSpPr/>
          <p:nvPr/>
        </p:nvSpPr>
        <p:spPr>
          <a:xfrm>
            <a:off x="815975" y="3739406"/>
            <a:ext cx="5175250" cy="1443930"/>
          </a:xfrm>
          <a:prstGeom prst="rect">
            <a:avLst/>
          </a:prstGeom>
          <a:solidFill>
            <a:srgbClr val="F4F7F5"/>
          </a:solidFill>
          <a:ln w="6350">
            <a:solidFill>
              <a:srgbClr val="D3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73150" y="3996581"/>
            <a:ext cx="516612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>
                <a:solidFill>
                  <a:srgbClr val="146049"/>
                </a:solidFill>
                <a:ea typeface="Archivo" pitchFamily="34" charset="-122"/>
                <a:cs typeface="Archivo" pitchFamily="34" charset="-120"/>
              </a:rPr>
              <a:t>H2</a:t>
            </a:r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1656060" y="4067671"/>
            <a:ext cx="311729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17291F"/>
                </a:solidFill>
                <a:ea typeface="Archivo" pitchFamily="34" charset="-122"/>
                <a:cs typeface="Archivo" pitchFamily="34" charset="-120"/>
              </a:rPr>
              <a:t>Entropy: more stable, deeper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1079500" y="4556621"/>
            <a:ext cx="4648200" cy="363190"/>
          </a:xfrm>
          <a:prstGeom prst="rect">
            <a:avLst/>
          </a:prstGeom>
          <a:noFill/>
          <a:ln w="12700">
            <a:solidFill>
              <a:srgbClr val="52665D"/>
            </a:solidFill>
            <a:prstDash val="solid"/>
          </a:ln>
        </p:spPr>
        <p:txBody>
          <a:bodyPr wrap="square" lIns="133350" tIns="57150" rIns="1905" bIns="3175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>
                <a:solidFill>
                  <a:srgbClr val="52665D"/>
                </a:solidFill>
                <a:ea typeface="Archivo" pitchFamily="34" charset="-122"/>
                <a:cs typeface="Archivo" pitchFamily="34" charset="-120"/>
              </a:rPr>
              <a:t>Not supported</a:t>
            </a:r>
            <a:endParaRPr lang="en-US" sz="1400"/>
          </a:p>
        </p:txBody>
      </p:sp>
      <p:sp>
        <p:nvSpPr>
          <p:cNvPr id="17" name="Shape 15"/>
          <p:cNvSpPr/>
          <p:nvPr/>
        </p:nvSpPr>
        <p:spPr>
          <a:xfrm>
            <a:off x="6197600" y="3736231"/>
            <a:ext cx="5181600" cy="1450280"/>
          </a:xfrm>
          <a:prstGeom prst="rect">
            <a:avLst/>
          </a:prstGeom>
          <a:solidFill>
            <a:srgbClr val="1460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51600" y="3990231"/>
            <a:ext cx="516612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>
                <a:solidFill>
                  <a:srgbClr val="8FD9B0"/>
                </a:solidFill>
                <a:ea typeface="Archivo" pitchFamily="34" charset="-122"/>
                <a:cs typeface="Archivo" pitchFamily="34" charset="-120"/>
              </a:rPr>
              <a:t>H3</a:t>
            </a:r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7034510" y="4061321"/>
            <a:ext cx="271063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FFFFFF"/>
                </a:solidFill>
                <a:ea typeface="Archivo" pitchFamily="34" charset="-122"/>
                <a:cs typeface="Archivo" pitchFamily="34" charset="-120"/>
              </a:rPr>
              <a:t>It depends on the dataset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6451600" y="4543921"/>
            <a:ext cx="4673600" cy="350490"/>
          </a:xfrm>
          <a:prstGeom prst="rect">
            <a:avLst/>
          </a:prstGeom>
          <a:solidFill>
            <a:srgbClr val="8FD9B0"/>
          </a:solidFill>
          <a:ln/>
        </p:spPr>
        <p:txBody>
          <a:bodyPr wrap="square" lIns="127000" tIns="50800" rIns="0" bIns="2540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>
                <a:solidFill>
                  <a:srgbClr val="146049"/>
                </a:solidFill>
                <a:ea typeface="Archivo" pitchFamily="34" charset="-122"/>
                <a:cs typeface="Archivo" pitchFamily="34" charset="-120"/>
              </a:rPr>
              <a:t>Supported</a:t>
            </a:r>
            <a:endParaRPr lang="en-US" sz="140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9CB22FBC-5C53-C660-3118-4E23170A5C17}"/>
              </a:ext>
            </a:extLst>
          </p:cNvPr>
          <p:cNvSpPr/>
          <p:nvPr/>
        </p:nvSpPr>
        <p:spPr>
          <a:xfrm>
            <a:off x="812800" y="894060"/>
            <a:ext cx="406400" cy="50800"/>
          </a:xfrm>
          <a:prstGeom prst="rect">
            <a:avLst/>
          </a:prstGeom>
          <a:solidFill>
            <a:srgbClr val="00A8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01937D5D-DD0E-9A93-6954-964F2F7C7C2D}"/>
              </a:ext>
            </a:extLst>
          </p:cNvPr>
          <p:cNvSpPr/>
          <p:nvPr/>
        </p:nvSpPr>
        <p:spPr>
          <a:xfrm>
            <a:off x="1381246" y="815340"/>
            <a:ext cx="3520261" cy="25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kern="0" spc="150" dirty="0"/>
              <a:t>RESULTS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6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00A8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2800" y="1381720"/>
            <a:ext cx="305038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b="1">
                <a:solidFill>
                  <a:srgbClr val="00A850"/>
                </a:solidFill>
                <a:ea typeface="Archivo" pitchFamily="34" charset="-122"/>
                <a:cs typeface="Archivo" pitchFamily="34" charset="-120"/>
              </a:rPr>
              <a:t>1</a:t>
            </a:r>
            <a:endParaRPr lang="en-US" sz="3200"/>
          </a:p>
        </p:txBody>
      </p:sp>
      <p:sp>
        <p:nvSpPr>
          <p:cNvPr id="6" name="Text 4"/>
          <p:cNvSpPr/>
          <p:nvPr/>
        </p:nvSpPr>
        <p:spPr>
          <a:xfrm>
            <a:off x="1371798" y="1381720"/>
            <a:ext cx="10096024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>
                <a:solidFill>
                  <a:srgbClr val="FFFFFF"/>
                </a:solidFill>
                <a:ea typeface="Archivo" pitchFamily="34" charset="-122"/>
                <a:cs typeface="Archivo" pitchFamily="34" charset="-120"/>
              </a:rPr>
              <a:t>No consistent winner between Gini and entropy.</a:t>
            </a:r>
            <a:endParaRPr lang="en-US" sz="2800"/>
          </a:p>
        </p:txBody>
      </p:sp>
      <p:sp>
        <p:nvSpPr>
          <p:cNvPr id="7" name="Text 5"/>
          <p:cNvSpPr/>
          <p:nvPr/>
        </p:nvSpPr>
        <p:spPr>
          <a:xfrm>
            <a:off x="812800" y="2301180"/>
            <a:ext cx="283766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b="1">
                <a:solidFill>
                  <a:srgbClr val="00A850"/>
                </a:solidFill>
                <a:ea typeface="Archivo" pitchFamily="34" charset="-122"/>
                <a:cs typeface="Archivo" pitchFamily="34" charset="-120"/>
              </a:rPr>
              <a:t>2</a:t>
            </a:r>
            <a:endParaRPr lang="en-US" sz="3200"/>
          </a:p>
        </p:txBody>
      </p:sp>
      <p:sp>
        <p:nvSpPr>
          <p:cNvPr id="8" name="Text 6"/>
          <p:cNvSpPr/>
          <p:nvPr/>
        </p:nvSpPr>
        <p:spPr>
          <a:xfrm>
            <a:off x="1371798" y="2301180"/>
            <a:ext cx="10329493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>
                <a:solidFill>
                  <a:srgbClr val="FFFFFF"/>
                </a:solidFill>
                <a:ea typeface="Archivo" pitchFamily="34" charset="-122"/>
                <a:cs typeface="Archivo" pitchFamily="34" charset="-120"/>
              </a:rPr>
              <a:t>The dataset shapes interpretability far more than the criterion.</a:t>
            </a:r>
            <a:endParaRPr lang="en-US" sz="2800"/>
          </a:p>
        </p:txBody>
      </p:sp>
      <p:sp>
        <p:nvSpPr>
          <p:cNvPr id="9" name="Text 7"/>
          <p:cNvSpPr/>
          <p:nvPr/>
        </p:nvSpPr>
        <p:spPr>
          <a:xfrm>
            <a:off x="812800" y="3218111"/>
            <a:ext cx="305038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b="1">
                <a:solidFill>
                  <a:srgbClr val="00A850"/>
                </a:solidFill>
                <a:ea typeface="Archivo" pitchFamily="34" charset="-122"/>
                <a:cs typeface="Archivo" pitchFamily="34" charset="-120"/>
              </a:rPr>
              <a:t>3</a:t>
            </a:r>
            <a:endParaRPr lang="en-US" sz="3200"/>
          </a:p>
        </p:txBody>
      </p:sp>
      <p:sp>
        <p:nvSpPr>
          <p:cNvPr id="10" name="Text 8"/>
          <p:cNvSpPr/>
          <p:nvPr/>
        </p:nvSpPr>
        <p:spPr>
          <a:xfrm>
            <a:off x="1371798" y="3218111"/>
            <a:ext cx="9720560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ea typeface="Archivo" pitchFamily="34" charset="-122"/>
                <a:cs typeface="Archivo" pitchFamily="34" charset="-120"/>
              </a:rPr>
              <a:t>Gini as the default looks safe for explanations.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6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rgbClr val="0C3F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940800" y="812800"/>
            <a:ext cx="2438400" cy="50800"/>
          </a:xfrm>
          <a:prstGeom prst="rect">
            <a:avLst/>
          </a:prstGeom>
          <a:solidFill>
            <a:srgbClr val="00A85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University of Limerick logo"/>
          <p:cNvPicPr>
            <a:picLocks noChangeAspect="1"/>
          </p:cNvPicPr>
          <p:nvPr/>
        </p:nvPicPr>
        <p:blipFill>
          <a:blip r:embed="rId3"/>
          <a:srcRect t="-29" b="-29"/>
          <a:stretch/>
        </p:blipFill>
        <p:spPr>
          <a:xfrm>
            <a:off x="812800" y="812800"/>
            <a:ext cx="2667000" cy="1219200"/>
          </a:xfrm>
          <a:prstGeom prst="rect">
            <a:avLst/>
          </a:prstGeom>
        </p:spPr>
      </p:pic>
      <p:sp>
        <p:nvSpPr>
          <p:cNvPr id="5" name="Text 2"/>
          <p:cNvSpPr>
            <a:spLocks noGrp="1"/>
          </p:cNvSpPr>
          <p:nvPr>
            <p:ph type="title"/>
          </p:nvPr>
        </p:nvSpPr>
        <p:spPr>
          <a:xfrm>
            <a:off x="812800" y="3530650"/>
            <a:ext cx="10883392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200"/>
              </a:lnSpc>
              <a:buNone/>
            </a:pPr>
            <a:r>
              <a:rPr lang="en-US" sz="7200" b="1" i="0" kern="0" spc="-100">
                <a:solidFill>
                  <a:srgbClr val="FFFFFF"/>
                </a:solidFill>
                <a:latin typeface="+mn-lt"/>
                <a:ea typeface="Archivo" pitchFamily="34" charset="-122"/>
                <a:cs typeface="Archivo" pitchFamily="34" charset="-120"/>
              </a:rPr>
              <a:t>Thank you</a:t>
            </a:r>
            <a:endParaRPr lang="en-US" sz="7200">
              <a:latin typeface="+mn-lt"/>
            </a:endParaRPr>
          </a:p>
        </p:txBody>
      </p:sp>
      <p:sp>
        <p:nvSpPr>
          <p:cNvPr id="6" name="Text 3"/>
          <p:cNvSpPr/>
          <p:nvPr/>
        </p:nvSpPr>
        <p:spPr>
          <a:xfrm>
            <a:off x="812800" y="4699050"/>
            <a:ext cx="719455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>
                <a:solidFill>
                  <a:srgbClr val="D6EBE0"/>
                </a:solidFill>
                <a:ea typeface="Archivo" pitchFamily="34" charset="-122"/>
                <a:cs typeface="Archivo" pitchFamily="34" charset="-120"/>
              </a:rPr>
              <a:t>Questions?</a:t>
            </a:r>
            <a:endParaRPr lang="en-US" sz="1800"/>
          </a:p>
        </p:txBody>
      </p:sp>
      <p:sp>
        <p:nvSpPr>
          <p:cNvPr id="7" name="Shape 4"/>
          <p:cNvSpPr/>
          <p:nvPr/>
        </p:nvSpPr>
        <p:spPr>
          <a:xfrm>
            <a:off x="812800" y="5279430"/>
            <a:ext cx="6350000" cy="0"/>
          </a:xfrm>
          <a:prstGeom prst="line">
            <a:avLst/>
          </a:prstGeom>
          <a:noFill/>
          <a:ln w="12700">
            <a:solidFill>
              <a:srgbClr val="00A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12800" y="54889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>
                <a:solidFill>
                  <a:srgbClr val="8FD9B0"/>
                </a:solidFill>
                <a:ea typeface="Archivo" pitchFamily="34" charset="-122"/>
                <a:cs typeface="Archivo" pitchFamily="34" charset="-120"/>
              </a:rPr>
              <a:t>AI DECLARATION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812800" y="5778500"/>
            <a:ext cx="6540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FFFFFF"/>
                </a:solidFill>
                <a:ea typeface="Archivo" pitchFamily="34" charset="-122"/>
                <a:cs typeface="Archivo" pitchFamily="34" charset="-120"/>
              </a:rPr>
              <a:t>This presentation was generated with assistance from Claude.</a:t>
            </a:r>
            <a:endParaRPr lang="en-US" sz="15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D0C1B-6EBC-5FDD-A09D-98DFAE1FA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DC75-DD79-AEBF-5DDB-650B705EE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794301"/>
            <a:ext cx="10566400" cy="447030"/>
          </a:xfrm>
        </p:spPr>
        <p:txBody>
          <a:bodyPr/>
          <a:lstStyle/>
          <a:p>
            <a:pPr>
              <a:lnSpc>
                <a:spcPct val="114999"/>
              </a:lnSpc>
            </a:pPr>
            <a:r>
              <a:rPr lang="en-GB" b="1">
                <a:latin typeface="+mn-lt"/>
              </a:rPr>
              <a:t>REFERENCES (IEEE format)</a:t>
            </a:r>
            <a:endParaRPr lang="en-US" b="1">
              <a:latin typeface="+mn-lt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C125A5F5-AD85-7EB6-9F0B-32A4BD12A7D5}"/>
              </a:ext>
            </a:extLst>
          </p:cNvPr>
          <p:cNvSpPr/>
          <p:nvPr/>
        </p:nvSpPr>
        <p:spPr>
          <a:xfrm>
            <a:off x="1449530" y="1646394"/>
            <a:ext cx="10433567" cy="4478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r>
              <a:rPr lang="en-US" kern="0" dirty="0">
                <a:ea typeface="+mn-lt"/>
                <a:cs typeface="+mn-lt"/>
              </a:rPr>
              <a:t>[1] scikit-learn developers, “</a:t>
            </a:r>
            <a:r>
              <a:rPr lang="en-US" kern="0" dirty="0" err="1">
                <a:ea typeface="+mn-lt"/>
                <a:cs typeface="+mn-lt"/>
              </a:rPr>
              <a:t>DecisionTreeClassifier</a:t>
            </a:r>
            <a:r>
              <a:rPr lang="en-US" kern="0" dirty="0">
                <a:ea typeface="+mn-lt"/>
                <a:cs typeface="+mn-lt"/>
              </a:rPr>
              <a:t>,” </a:t>
            </a:r>
            <a:r>
              <a:rPr lang="en-US" i="1" kern="0" dirty="0">
                <a:ea typeface="+mn-lt"/>
                <a:cs typeface="+mn-lt"/>
              </a:rPr>
              <a:t>scikit-learn</a:t>
            </a:r>
            <a:r>
              <a:rPr lang="en-US" kern="0" dirty="0">
                <a:ea typeface="+mn-lt"/>
                <a:cs typeface="+mn-lt"/>
              </a:rPr>
              <a:t>, 2026. [Online]. Available: </a:t>
            </a:r>
            <a:r>
              <a:rPr lang="en-US" kern="0" dirty="0">
                <a:ea typeface="+mn-lt"/>
                <a:cs typeface="+mn-lt"/>
                <a:hlinkClick r:id="rId3"/>
              </a:rPr>
              <a:t>https://scikit-learn.org/stable/modules/generated/sklearn.tree.DecisionTreeClassifier.html</a:t>
            </a:r>
            <a:r>
              <a:rPr lang="en-US" kern="0" dirty="0">
                <a:ea typeface="+mn-lt"/>
                <a:cs typeface="+mn-lt"/>
              </a:rPr>
              <a:t>. [Accessed: Oct. 9, 2026].</a:t>
            </a:r>
          </a:p>
          <a:p>
            <a:r>
              <a:rPr lang="en-US" kern="0" dirty="0">
                <a:ea typeface="+mn-lt"/>
                <a:cs typeface="+mn-lt"/>
              </a:rPr>
              <a:t>[2] MathWorks, “</a:t>
            </a:r>
            <a:r>
              <a:rPr lang="en-US" kern="0" dirty="0" err="1">
                <a:ea typeface="+mn-lt"/>
                <a:cs typeface="+mn-lt"/>
              </a:rPr>
              <a:t>ClassificationTree</a:t>
            </a:r>
            <a:r>
              <a:rPr lang="en-US" kern="0" dirty="0">
                <a:ea typeface="+mn-lt"/>
                <a:cs typeface="+mn-lt"/>
              </a:rPr>
              <a:t>,” </a:t>
            </a:r>
            <a:r>
              <a:rPr lang="en-US" i="1" kern="0" dirty="0">
                <a:ea typeface="+mn-lt"/>
                <a:cs typeface="+mn-lt"/>
              </a:rPr>
              <a:t>MATLAB Help Center</a:t>
            </a:r>
            <a:r>
              <a:rPr lang="en-US" kern="0" dirty="0">
                <a:ea typeface="+mn-lt"/>
                <a:cs typeface="+mn-lt"/>
              </a:rPr>
              <a:t>. [Online]. Available: </a:t>
            </a:r>
            <a:r>
              <a:rPr lang="en-US" kern="0" dirty="0">
                <a:ea typeface="+mn-lt"/>
                <a:cs typeface="+mn-lt"/>
                <a:hlinkClick r:id="rId4"/>
              </a:rPr>
              <a:t>https://www.mathworks.com/help/stats/classificationtree.html</a:t>
            </a:r>
            <a:r>
              <a:rPr lang="en-US" kern="0" dirty="0">
                <a:ea typeface="+mn-lt"/>
                <a:cs typeface="+mn-lt"/>
              </a:rPr>
              <a:t>. [Accessed: Oct. 9, 2026].</a:t>
            </a:r>
            <a:endParaRPr lang="en-US" dirty="0">
              <a:ea typeface="+mn-lt"/>
              <a:cs typeface="+mn-lt"/>
            </a:endParaRPr>
          </a:p>
          <a:p>
            <a:r>
              <a:rPr lang="en-US" kern="0" dirty="0">
                <a:ea typeface="+mn-lt"/>
                <a:cs typeface="+mn-lt"/>
              </a:rPr>
              <a:t>[3] L. E. Raileanu and K. Stoffel, “Theoretical comparison between the Gini Index and Information Gain criteria,” </a:t>
            </a:r>
            <a:r>
              <a:rPr lang="en-US" i="1" kern="0" dirty="0">
                <a:ea typeface="+mn-lt"/>
                <a:cs typeface="+mn-lt"/>
              </a:rPr>
              <a:t>Annals of Mathematics and Artificial Intelligence</a:t>
            </a:r>
            <a:r>
              <a:rPr lang="en-US" kern="0" dirty="0">
                <a:ea typeface="+mn-lt"/>
                <a:cs typeface="+mn-lt"/>
              </a:rPr>
              <a:t>, vol. 41, no. 1, pp. 77-93, 2004.</a:t>
            </a:r>
          </a:p>
          <a:p>
            <a:r>
              <a:rPr lang="en-US" kern="0" dirty="0">
                <a:ea typeface="+mn-lt"/>
                <a:cs typeface="+mn-lt"/>
              </a:rPr>
              <a:t>[4]</a:t>
            </a:r>
            <a:r>
              <a:rPr lang="en-IE" dirty="0"/>
              <a:t> W. Wolberg, O. Mangasarian, N. Street, and W. Street, “Breast Cancer Wisconsin (Diagnostic),” UCI Machine Learning Repository, 1993. [Online]. Available: </a:t>
            </a:r>
            <a:r>
              <a:rPr lang="en-IE" u="sng" dirty="0">
                <a:hlinkClick r:id="rId5"/>
              </a:rPr>
              <a:t>https://doi.org/10.24432/C5DW2B</a:t>
            </a:r>
            <a:r>
              <a:rPr lang="en-IE" dirty="0"/>
              <a:t>. [Accessed: Oct. 9, 2026].</a:t>
            </a:r>
          </a:p>
          <a:p>
            <a:r>
              <a:rPr lang="en-US" kern="0" dirty="0">
                <a:ea typeface="+mn-lt"/>
                <a:cs typeface="+mn-lt"/>
              </a:rPr>
              <a:t>[5]</a:t>
            </a:r>
            <a:r>
              <a:rPr lang="en-IE" dirty="0"/>
              <a:t> A. Janosi, W. </a:t>
            </a:r>
            <a:r>
              <a:rPr lang="en-IE" dirty="0" err="1"/>
              <a:t>Steinbrunn</a:t>
            </a:r>
            <a:r>
              <a:rPr lang="en-IE" dirty="0"/>
              <a:t>, M. Pfisterer, and R. Detrano, “Heart Disease,” UCI Machine Learning Repository, 1989. [Online]. Available: </a:t>
            </a:r>
            <a:r>
              <a:rPr lang="en-IE" u="sng" dirty="0">
                <a:hlinkClick r:id="rId6"/>
              </a:rPr>
              <a:t>https://doi.org/10.24432/C52P4X</a:t>
            </a:r>
            <a:r>
              <a:rPr lang="en-IE" dirty="0"/>
              <a:t>. [Accessed: Oct. 9, 2026].</a:t>
            </a:r>
          </a:p>
          <a:p>
            <a:r>
              <a:rPr lang="en-IE" dirty="0">
                <a:ea typeface="+mn-lt"/>
                <a:cs typeface="+mn-lt"/>
              </a:rPr>
              <a:t>[6] L. </a:t>
            </a:r>
            <a:r>
              <a:rPr lang="en-IE" dirty="0" err="1">
                <a:ea typeface="+mn-lt"/>
                <a:cs typeface="+mn-lt"/>
              </a:rPr>
              <a:t>Breiman</a:t>
            </a:r>
            <a:r>
              <a:rPr lang="en-IE" dirty="0">
                <a:ea typeface="+mn-lt"/>
                <a:cs typeface="+mn-lt"/>
              </a:rPr>
              <a:t>, J. Friedman, R. </a:t>
            </a:r>
            <a:r>
              <a:rPr lang="en-IE" dirty="0" err="1">
                <a:ea typeface="+mn-lt"/>
                <a:cs typeface="+mn-lt"/>
              </a:rPr>
              <a:t>Olshen</a:t>
            </a:r>
            <a:r>
              <a:rPr lang="en-IE" dirty="0">
                <a:ea typeface="+mn-lt"/>
                <a:cs typeface="+mn-lt"/>
              </a:rPr>
              <a:t>, and C. J. Stone, </a:t>
            </a:r>
            <a:r>
              <a:rPr lang="en-IE" i="1" dirty="0">
                <a:ea typeface="+mn-lt"/>
                <a:cs typeface="+mn-lt"/>
              </a:rPr>
              <a:t>Classification and Regression Trees</a:t>
            </a:r>
            <a:r>
              <a:rPr lang="en-IE" dirty="0">
                <a:ea typeface="+mn-lt"/>
                <a:cs typeface="+mn-lt"/>
              </a:rPr>
              <a:t>. Chapman and Hall/CRC, 2017. [E-book] Available: </a:t>
            </a:r>
            <a:r>
              <a:rPr lang="en-IE" dirty="0">
                <a:ea typeface="+mn-lt"/>
                <a:cs typeface="+mn-lt"/>
                <a:hlinkClick r:id="rId7"/>
              </a:rPr>
              <a:t>https://doi.org/10.1201/9781315139470</a:t>
            </a:r>
            <a:endParaRPr lang="en-IE" dirty="0"/>
          </a:p>
          <a:p>
            <a:r>
              <a:rPr lang="en-IE" dirty="0">
                <a:ea typeface="+mn-lt"/>
                <a:cs typeface="+mn-lt"/>
              </a:rPr>
              <a:t>[7] J. R. Quinlan, “Induction of decision trees,” </a:t>
            </a:r>
            <a:r>
              <a:rPr lang="en-IE" i="1" dirty="0">
                <a:ea typeface="+mn-lt"/>
                <a:cs typeface="+mn-lt"/>
              </a:rPr>
              <a:t>Machine Learning</a:t>
            </a:r>
            <a:r>
              <a:rPr lang="en-IE" dirty="0">
                <a:ea typeface="+mn-lt"/>
                <a:cs typeface="+mn-lt"/>
              </a:rPr>
              <a:t>, vol. 1, Mar., pp. 81-106, 1986.</a:t>
            </a:r>
            <a:endParaRPr lang="en-IE" dirty="0"/>
          </a:p>
          <a:p>
            <a:r>
              <a:rPr lang="en-IE" dirty="0">
                <a:ea typeface="+mn-lt"/>
                <a:cs typeface="+mn-lt"/>
              </a:rPr>
              <a:t>[8] R. </a:t>
            </a:r>
            <a:r>
              <a:rPr lang="en-IE" dirty="0" err="1">
                <a:ea typeface="+mn-lt"/>
                <a:cs typeface="+mn-lt"/>
              </a:rPr>
              <a:t>Piltaver</a:t>
            </a:r>
            <a:r>
              <a:rPr lang="en-IE" dirty="0">
                <a:ea typeface="+mn-lt"/>
                <a:cs typeface="+mn-lt"/>
              </a:rPr>
              <a:t>, M. </a:t>
            </a:r>
            <a:r>
              <a:rPr lang="en-IE" dirty="0" err="1">
                <a:ea typeface="+mn-lt"/>
                <a:cs typeface="+mn-lt"/>
              </a:rPr>
              <a:t>Luštrek</a:t>
            </a:r>
            <a:r>
              <a:rPr lang="en-IE" dirty="0">
                <a:ea typeface="+mn-lt"/>
                <a:cs typeface="+mn-lt"/>
              </a:rPr>
              <a:t>, M. Gams, and S. Martinčić-</a:t>
            </a:r>
            <a:r>
              <a:rPr lang="en-IE" dirty="0" err="1">
                <a:ea typeface="+mn-lt"/>
                <a:cs typeface="+mn-lt"/>
              </a:rPr>
              <a:t>Ipšić</a:t>
            </a:r>
            <a:r>
              <a:rPr lang="en-IE" dirty="0">
                <a:ea typeface="+mn-lt"/>
                <a:cs typeface="+mn-lt"/>
              </a:rPr>
              <a:t>, “What makes classification trees comprehensible?,” </a:t>
            </a:r>
            <a:r>
              <a:rPr lang="en-IE" i="1" dirty="0">
                <a:ea typeface="+mn-lt"/>
                <a:cs typeface="+mn-lt"/>
              </a:rPr>
              <a:t>Expert Systems with Applications</a:t>
            </a:r>
            <a:r>
              <a:rPr lang="en-IE" dirty="0">
                <a:ea typeface="+mn-lt"/>
                <a:cs typeface="+mn-lt"/>
              </a:rPr>
              <a:t>, vol. 62, pp. 333-346, 2016.</a:t>
            </a:r>
            <a:endParaRPr lang="en-IE" dirty="0"/>
          </a:p>
          <a:p>
            <a:r>
              <a:rPr lang="en-IE" dirty="0">
                <a:ea typeface="+mn-lt"/>
                <a:cs typeface="+mn-lt"/>
              </a:rPr>
              <a:t>[9] M. Last, O. Maimon, and E. Minkov, “Improving Stability of Decision Trees,” </a:t>
            </a:r>
            <a:r>
              <a:rPr lang="en-IE" i="1" dirty="0">
                <a:ea typeface="+mn-lt"/>
                <a:cs typeface="+mn-lt"/>
              </a:rPr>
              <a:t>International Journal of Pattern Recognition and Artificial Intelligence</a:t>
            </a:r>
            <a:r>
              <a:rPr lang="en-IE" dirty="0">
                <a:ea typeface="+mn-lt"/>
                <a:cs typeface="+mn-lt"/>
              </a:rPr>
              <a:t>, vol. 16, no. 2, Mar., pp. 145-159, 2002.</a:t>
            </a:r>
            <a:endParaRPr lang="en-IE" dirty="0"/>
          </a:p>
          <a:p>
            <a:endParaRPr lang="en-IE" sz="1600" dirty="0"/>
          </a:p>
          <a:p>
            <a:endParaRPr lang="en-US" sz="1600" dirty="0"/>
          </a:p>
          <a:p>
            <a:endParaRPr lang="en-US" sz="1600" kern="0" dirty="0"/>
          </a:p>
          <a:p>
            <a:endParaRPr lang="en-US" sz="1600" kern="0" dirty="0"/>
          </a:p>
          <a:p>
            <a:endParaRPr lang="en-US" sz="1600" kern="0" dirty="0"/>
          </a:p>
          <a:p>
            <a:endParaRPr lang="en-US" sz="16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40F3741-0B8F-CC45-3F08-AAE98D723547}"/>
              </a:ext>
            </a:extLst>
          </p:cNvPr>
          <p:cNvGrpSpPr/>
          <p:nvPr/>
        </p:nvGrpSpPr>
        <p:grpSpPr>
          <a:xfrm>
            <a:off x="812800" y="1756886"/>
            <a:ext cx="406401" cy="3984694"/>
            <a:chOff x="812800" y="1756886"/>
            <a:chExt cx="406401" cy="3984694"/>
          </a:xfrm>
        </p:grpSpPr>
        <p:sp>
          <p:nvSpPr>
            <p:cNvPr id="5" name="Shape 0">
              <a:extLst>
                <a:ext uri="{FF2B5EF4-FFF2-40B4-BE49-F238E27FC236}">
                  <a16:creationId xmlns:a16="http://schemas.microsoft.com/office/drawing/2014/main" id="{CE3C02B9-208E-ADCB-162B-E2C5C8DEDDA1}"/>
                </a:ext>
              </a:extLst>
            </p:cNvPr>
            <p:cNvSpPr/>
            <p:nvPr/>
          </p:nvSpPr>
          <p:spPr>
            <a:xfrm>
              <a:off x="812800" y="3930196"/>
              <a:ext cx="406400" cy="50800"/>
            </a:xfrm>
            <a:prstGeom prst="rect">
              <a:avLst/>
            </a:prstGeom>
            <a:solidFill>
              <a:srgbClr val="00A85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0">
              <a:extLst>
                <a:ext uri="{FF2B5EF4-FFF2-40B4-BE49-F238E27FC236}">
                  <a16:creationId xmlns:a16="http://schemas.microsoft.com/office/drawing/2014/main" id="{DDD6A755-3DF8-3729-A332-603AC4E5417A}"/>
                </a:ext>
              </a:extLst>
            </p:cNvPr>
            <p:cNvSpPr/>
            <p:nvPr/>
          </p:nvSpPr>
          <p:spPr>
            <a:xfrm>
              <a:off x="812800" y="4471151"/>
              <a:ext cx="406400" cy="50800"/>
            </a:xfrm>
            <a:prstGeom prst="rect">
              <a:avLst/>
            </a:prstGeom>
            <a:solidFill>
              <a:srgbClr val="00A85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0">
              <a:extLst>
                <a:ext uri="{FF2B5EF4-FFF2-40B4-BE49-F238E27FC236}">
                  <a16:creationId xmlns:a16="http://schemas.microsoft.com/office/drawing/2014/main" id="{00AAE0F9-62A0-CC46-9FB3-94D0F9BF7FA1}"/>
                </a:ext>
              </a:extLst>
            </p:cNvPr>
            <p:cNvSpPr/>
            <p:nvPr/>
          </p:nvSpPr>
          <p:spPr>
            <a:xfrm>
              <a:off x="812800" y="2247047"/>
              <a:ext cx="406400" cy="50800"/>
            </a:xfrm>
            <a:prstGeom prst="rect">
              <a:avLst/>
            </a:prstGeom>
            <a:solidFill>
              <a:srgbClr val="00A85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Shape 0">
              <a:extLst>
                <a:ext uri="{FF2B5EF4-FFF2-40B4-BE49-F238E27FC236}">
                  <a16:creationId xmlns:a16="http://schemas.microsoft.com/office/drawing/2014/main" id="{0626A805-B60D-2DEA-D18A-AEF4CD6A4CF5}"/>
                </a:ext>
              </a:extLst>
            </p:cNvPr>
            <p:cNvSpPr/>
            <p:nvPr/>
          </p:nvSpPr>
          <p:spPr>
            <a:xfrm>
              <a:off x="812800" y="2744665"/>
              <a:ext cx="406400" cy="50800"/>
            </a:xfrm>
            <a:prstGeom prst="rect">
              <a:avLst/>
            </a:prstGeom>
            <a:solidFill>
              <a:srgbClr val="00A85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0">
              <a:extLst>
                <a:ext uri="{FF2B5EF4-FFF2-40B4-BE49-F238E27FC236}">
                  <a16:creationId xmlns:a16="http://schemas.microsoft.com/office/drawing/2014/main" id="{1E0B2C29-95CB-2A7F-21B2-A45FA4CC2759}"/>
                </a:ext>
              </a:extLst>
            </p:cNvPr>
            <p:cNvSpPr/>
            <p:nvPr/>
          </p:nvSpPr>
          <p:spPr>
            <a:xfrm>
              <a:off x="812800" y="4950175"/>
              <a:ext cx="406400" cy="50800"/>
            </a:xfrm>
            <a:prstGeom prst="rect">
              <a:avLst/>
            </a:prstGeom>
            <a:solidFill>
              <a:srgbClr val="00A85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0">
              <a:extLst>
                <a:ext uri="{FF2B5EF4-FFF2-40B4-BE49-F238E27FC236}">
                  <a16:creationId xmlns:a16="http://schemas.microsoft.com/office/drawing/2014/main" id="{C31B1FD5-6932-CD14-D5F3-AE8BA4623512}"/>
                </a:ext>
              </a:extLst>
            </p:cNvPr>
            <p:cNvSpPr/>
            <p:nvPr/>
          </p:nvSpPr>
          <p:spPr>
            <a:xfrm>
              <a:off x="812801" y="1756886"/>
              <a:ext cx="406400" cy="50800"/>
            </a:xfrm>
            <a:prstGeom prst="rect">
              <a:avLst/>
            </a:prstGeom>
            <a:solidFill>
              <a:srgbClr val="00A85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0">
              <a:extLst>
                <a:ext uri="{FF2B5EF4-FFF2-40B4-BE49-F238E27FC236}">
                  <a16:creationId xmlns:a16="http://schemas.microsoft.com/office/drawing/2014/main" id="{93031FC3-7C25-C135-F1AC-16D1A6C14DFD}"/>
                </a:ext>
              </a:extLst>
            </p:cNvPr>
            <p:cNvSpPr/>
            <p:nvPr/>
          </p:nvSpPr>
          <p:spPr>
            <a:xfrm>
              <a:off x="812800" y="3242283"/>
              <a:ext cx="406400" cy="50800"/>
            </a:xfrm>
            <a:prstGeom prst="rect">
              <a:avLst/>
            </a:prstGeom>
            <a:solidFill>
              <a:srgbClr val="00A85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0">
              <a:extLst>
                <a:ext uri="{FF2B5EF4-FFF2-40B4-BE49-F238E27FC236}">
                  <a16:creationId xmlns:a16="http://schemas.microsoft.com/office/drawing/2014/main" id="{99080013-34E8-F20A-6A1D-188B9F600C07}"/>
                </a:ext>
              </a:extLst>
            </p:cNvPr>
            <p:cNvSpPr/>
            <p:nvPr/>
          </p:nvSpPr>
          <p:spPr>
            <a:xfrm>
              <a:off x="812800" y="5245293"/>
              <a:ext cx="406400" cy="50800"/>
            </a:xfrm>
            <a:prstGeom prst="rect">
              <a:avLst/>
            </a:prstGeom>
            <a:solidFill>
              <a:srgbClr val="00A85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0">
              <a:extLst>
                <a:ext uri="{FF2B5EF4-FFF2-40B4-BE49-F238E27FC236}">
                  <a16:creationId xmlns:a16="http://schemas.microsoft.com/office/drawing/2014/main" id="{A2FA1384-BC67-38A6-A717-BA869A534BC0}"/>
                </a:ext>
              </a:extLst>
            </p:cNvPr>
            <p:cNvSpPr/>
            <p:nvPr/>
          </p:nvSpPr>
          <p:spPr>
            <a:xfrm>
              <a:off x="812800" y="5690780"/>
              <a:ext cx="406400" cy="50800"/>
            </a:xfrm>
            <a:prstGeom prst="rect">
              <a:avLst/>
            </a:prstGeom>
            <a:solidFill>
              <a:srgbClr val="00A850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28615110"/>
      </p:ext>
    </p:extLst>
  </p:cSld>
  <p:clrMapOvr>
    <a:masterClrMapping/>
  </p:clrMapOvr>
</p:sld>
</file>

<file path=ppt/theme/theme1.xml><?xml version="1.0" encoding="utf-8"?>
<a:theme xmlns:a="http://schemas.openxmlformats.org/drawingml/2006/main" name="XAI Project – High-Level Presentation">
  <a:themeElements>
    <a:clrScheme name="XAI Project – High-Level Presentation">
      <a:dk1>
        <a:srgbClr val="146049"/>
      </a:dk1>
      <a:lt1>
        <a:srgbClr val="FFFFFF"/>
      </a:lt1>
      <a:dk2>
        <a:srgbClr val="4F8877"/>
      </a:dk2>
      <a:lt2>
        <a:srgbClr val="E8EFED"/>
      </a:lt2>
      <a:accent1>
        <a:srgbClr val="00A850"/>
      </a:accent1>
      <a:accent2>
        <a:srgbClr val="8FD9B0"/>
      </a:accent2>
      <a:accent3>
        <a:srgbClr val="0C3F30"/>
      </a:accent3>
      <a:accent4>
        <a:srgbClr val="52665D"/>
      </a:accent4>
      <a:accent5>
        <a:srgbClr val="17291F"/>
      </a:accent5>
      <a:accent6>
        <a:srgbClr val="E6F4EC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084b924-3ab4-4116-9251-9939f695e54c}" enabled="0" method="" siteId="{0084b924-3ab4-4116-9251-9939f695e54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1296</Words>
  <Application>Microsoft Office PowerPoint</Application>
  <PresentationFormat>Widescreen</PresentationFormat>
  <Paragraphs>238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Archivo</vt:lpstr>
      <vt:lpstr>Arial</vt:lpstr>
      <vt:lpstr>XAI Project – High-Level Presentation</vt:lpstr>
      <vt:lpstr>Gini split vs Entropy: does the splitting criterion change interpretability of decision trees?</vt:lpstr>
      <vt:lpstr>Presentation Overview</vt:lpstr>
      <vt:lpstr>Two ways for a decision tree to choose its next split</vt:lpstr>
      <vt:lpstr>Does the choice of either Gini split or entropy split change the interpretability of a decision tree is?</vt:lpstr>
      <vt:lpstr>Expected possible outcomes</vt:lpstr>
      <vt:lpstr>Prior work measures agreement, not explanations</vt:lpstr>
      <vt:lpstr>PowerPoint Presentation</vt:lpstr>
      <vt:lpstr>Datasets that we chose to use and why </vt:lpstr>
      <vt:lpstr>Three medical datasets from UCI</vt:lpstr>
      <vt:lpstr>Three cleaning decisions</vt:lpstr>
      <vt:lpstr>Analysis methods for interpretability and explainability</vt:lpstr>
      <vt:lpstr>Structure &amp; Complexity</vt:lpstr>
      <vt:lpstr>Tree Stability</vt:lpstr>
      <vt:lpstr>Accuracy vs Depth</vt:lpstr>
      <vt:lpstr>Full analysis pipeline, only the criterion changes</vt:lpstr>
      <vt:lpstr>Results</vt:lpstr>
      <vt:lpstr>PowerPoint Presentation</vt:lpstr>
      <vt:lpstr>No criterion wins everywhere on accuracy alone</vt:lpstr>
      <vt:lpstr>Tree size only differed on one dataset</vt:lpstr>
      <vt:lpstr>Stability depends on the dataset, not the criterion</vt:lpstr>
      <vt:lpstr>Hypotheses: early verdict from only 3 datasets</vt:lpstr>
      <vt:lpstr>PowerPoint Presentation</vt:lpstr>
      <vt:lpstr>Thank you</vt:lpstr>
      <vt:lpstr>REFERENCES (IEEE format)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XAI Project – High-Level Presentation</dc:title>
  <dc:subject/>
  <dc:creator/>
  <cp:lastModifiedBy>ULStudent:SKYE.FITZPATRICK</cp:lastModifiedBy>
  <cp:revision>2</cp:revision>
  <dcterms:created xsi:type="dcterms:W3CDTF">2026-10-09T13:33:13Z</dcterms:created>
  <dcterms:modified xsi:type="dcterms:W3CDTF">2026-10-09T19:32:01Z</dcterms:modified>
</cp:coreProperties>
</file>